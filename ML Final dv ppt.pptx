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2" r:id="rId8"/>
    <p:sldId id="263" r:id="rId9"/>
    <p:sldId id="264" r:id="rId10"/>
    <p:sldId id="265" r:id="rId11"/>
    <p:sldId id="268" r:id="rId12"/>
    <p:sldId id="269" r:id="rId13"/>
    <p:sldId id="266" r:id="rId14"/>
    <p:sldId id="272" r:id="rId15"/>
    <p:sldId id="273" r:id="rId16"/>
  </p:sldIdLst>
  <p:sldSz cx="18288000" cy="10287000"/>
  <p:notesSz cx="6858000" cy="9144000"/>
  <p:embeddedFontLst>
    <p:embeddedFont>
      <p:font typeface="Montserrat 1" panose="020B0604020202020204" charset="0"/>
      <p:regular r:id="rId17"/>
    </p:embeddedFont>
    <p:embeddedFont>
      <p:font typeface="Open Sauce SemiBold Bold" panose="020B0604020202020204" charset="0"/>
      <p:regular r:id="rId18"/>
    </p:embeddedFont>
    <p:embeddedFont>
      <p:font typeface="Tahoma" panose="020B0604030504040204" pitchFamily="34" charset="0"/>
      <p:regular r:id="rId19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34" autoAdjust="0"/>
    <p:restoredTop sz="94607" autoAdjust="0"/>
  </p:normalViewPr>
  <p:slideViewPr>
    <p:cSldViewPr>
      <p:cViewPr varScale="1">
        <p:scale>
          <a:sx n="47" d="100"/>
          <a:sy n="47" d="100"/>
        </p:scale>
        <p:origin x="426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10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0.svg"/><Relationship Id="rId7" Type="http://schemas.openxmlformats.org/officeDocument/2006/relationships/image" Target="../media/image7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5.svg"/><Relationship Id="rId7" Type="http://schemas.openxmlformats.org/officeDocument/2006/relationships/image" Target="../media/image3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0.svg"/><Relationship Id="rId7" Type="http://schemas.openxmlformats.org/officeDocument/2006/relationships/image" Target="../media/image1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10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3.svg"/><Relationship Id="rId7" Type="http://schemas.openxmlformats.org/officeDocument/2006/relationships/image" Target="../media/image10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10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cirp.org/reference/referencespapers?referenceid=3523326" TargetMode="External"/><Relationship Id="rId13" Type="http://schemas.openxmlformats.org/officeDocument/2006/relationships/image" Target="../media/image22.png"/><Relationship Id="rId3" Type="http://schemas.openxmlformats.org/officeDocument/2006/relationships/image" Target="../media/image3.svg"/><Relationship Id="rId7" Type="http://schemas.openxmlformats.org/officeDocument/2006/relationships/image" Target="../media/image10.svg"/><Relationship Id="rId12" Type="http://schemas.openxmlformats.org/officeDocument/2006/relationships/hyperlink" Target="https://scholar.google.com.pk/scholar?q=Breiman+(2001&amp;hl=en&amp;as_sdt=0&amp;as_vis=1&amp;oi=scholart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hyperlink" Target="https://scholar.google.com.pk/scholar?q=James+et+al.+(2013)&amp;hl=en&amp;as_sdt=0&amp;as_vis=1&amp;oi=scholart" TargetMode="External"/><Relationship Id="rId5" Type="http://schemas.openxmlformats.org/officeDocument/2006/relationships/image" Target="../media/image5.svg"/><Relationship Id="rId10" Type="http://schemas.openxmlformats.org/officeDocument/2006/relationships/hyperlink" Target="https://scholar.google.com.pk/scholar?q=Hastie+et+al.+(2009&amp;hl=en&amp;as_sdt=0&amp;as_vis=1&amp;oi=scholart" TargetMode="External"/><Relationship Id="rId4" Type="http://schemas.openxmlformats.org/officeDocument/2006/relationships/image" Target="../media/image4.png"/><Relationship Id="rId9" Type="http://schemas.openxmlformats.org/officeDocument/2006/relationships/hyperlink" Target="https://www.scirp.org/reference/referencespapers?referenceid=2791883" TargetMode="External"/><Relationship Id="rId14" Type="http://schemas.openxmlformats.org/officeDocument/2006/relationships/image" Target="../media/image23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0DB01E0-3B9A-4619-BB40-0F6D1C391ED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Freeform 2"/>
          <p:cNvSpPr/>
          <p:nvPr/>
        </p:nvSpPr>
        <p:spPr>
          <a:xfrm>
            <a:off x="1028700" y="9077308"/>
            <a:ext cx="2716317" cy="1358159"/>
          </a:xfrm>
          <a:custGeom>
            <a:avLst/>
            <a:gdLst/>
            <a:ahLst/>
            <a:cxnLst/>
            <a:rect l="l" t="t" r="r" b="b"/>
            <a:pathLst>
              <a:path w="2716317" h="1358159">
                <a:moveTo>
                  <a:pt x="0" y="0"/>
                </a:moveTo>
                <a:lnTo>
                  <a:pt x="2716317" y="0"/>
                </a:lnTo>
                <a:lnTo>
                  <a:pt x="2716317" y="1358159"/>
                </a:lnTo>
                <a:lnTo>
                  <a:pt x="0" y="13581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V="1">
            <a:off x="14542983" y="-104775"/>
            <a:ext cx="2716317" cy="1358159"/>
          </a:xfrm>
          <a:custGeom>
            <a:avLst/>
            <a:gdLst/>
            <a:ahLst/>
            <a:cxnLst/>
            <a:rect l="l" t="t" r="r" b="b"/>
            <a:pathLst>
              <a:path w="2716317" h="1358159">
                <a:moveTo>
                  <a:pt x="0" y="1358159"/>
                </a:moveTo>
                <a:lnTo>
                  <a:pt x="2716317" y="1358159"/>
                </a:lnTo>
                <a:lnTo>
                  <a:pt x="2716317" y="0"/>
                </a:lnTo>
                <a:lnTo>
                  <a:pt x="0" y="0"/>
                </a:lnTo>
                <a:lnTo>
                  <a:pt x="0" y="135815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1230451" y="-816923"/>
            <a:ext cx="5200379" cy="4114800"/>
          </a:xfrm>
          <a:custGeom>
            <a:avLst/>
            <a:gdLst/>
            <a:ahLst/>
            <a:cxnLst/>
            <a:rect l="l" t="t" r="r" b="b"/>
            <a:pathLst>
              <a:path w="5200379" h="4114800">
                <a:moveTo>
                  <a:pt x="0" y="0"/>
                </a:moveTo>
                <a:lnTo>
                  <a:pt x="5200380" y="0"/>
                </a:lnTo>
                <a:lnTo>
                  <a:pt x="520038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4204783" y="6646031"/>
            <a:ext cx="4903436" cy="4114800"/>
          </a:xfrm>
          <a:custGeom>
            <a:avLst/>
            <a:gdLst/>
            <a:ahLst/>
            <a:cxnLst/>
            <a:rect l="l" t="t" r="r" b="b"/>
            <a:pathLst>
              <a:path w="4903436" h="4114800">
                <a:moveTo>
                  <a:pt x="0" y="0"/>
                </a:moveTo>
                <a:lnTo>
                  <a:pt x="4903436" y="0"/>
                </a:lnTo>
                <a:lnTo>
                  <a:pt x="490343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3810000" y="-33184"/>
            <a:ext cx="10998633" cy="22390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99"/>
              </a:lnSpc>
            </a:pPr>
            <a:endParaRPr lang="en-US" sz="5400" b="1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Montserrat Bold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54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MACHINE LEARNING PROJECT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54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THEORY &amp; APPLICATION</a:t>
            </a:r>
          </a:p>
        </p:txBody>
      </p:sp>
      <p:sp>
        <p:nvSpPr>
          <p:cNvPr id="9" name="Freeform 16">
            <a:extLst>
              <a:ext uri="{FF2B5EF4-FFF2-40B4-BE49-F238E27FC236}">
                <a16:creationId xmlns:a16="http://schemas.microsoft.com/office/drawing/2014/main" id="{938EA3F8-6527-5D3E-8297-2728C24954B0}"/>
              </a:ext>
            </a:extLst>
          </p:cNvPr>
          <p:cNvSpPr/>
          <p:nvPr/>
        </p:nvSpPr>
        <p:spPr>
          <a:xfrm flipH="1">
            <a:off x="0" y="6467614"/>
            <a:ext cx="10684456" cy="2943208"/>
          </a:xfrm>
          <a:custGeom>
            <a:avLst/>
            <a:gdLst/>
            <a:ahLst/>
            <a:cxnLst/>
            <a:rect l="l" t="t" r="r" b="b"/>
            <a:pathLst>
              <a:path w="6552514" h="1429639">
                <a:moveTo>
                  <a:pt x="6552514" y="0"/>
                </a:moveTo>
                <a:lnTo>
                  <a:pt x="0" y="0"/>
                </a:lnTo>
                <a:lnTo>
                  <a:pt x="0" y="1429639"/>
                </a:lnTo>
                <a:lnTo>
                  <a:pt x="6552514" y="1429639"/>
                </a:lnTo>
                <a:lnTo>
                  <a:pt x="6552514" y="0"/>
                </a:lnTo>
                <a:close/>
              </a:path>
            </a:pathLst>
          </a:custGeom>
          <a:blipFill>
            <a:blip r:embed="rId9"/>
            <a:stretch>
              <a:fillRect b="-785"/>
            </a:stretch>
          </a:blipFill>
        </p:spPr>
      </p:sp>
      <p:sp>
        <p:nvSpPr>
          <p:cNvPr id="10" name="TextBox 18">
            <a:extLst>
              <a:ext uri="{FF2B5EF4-FFF2-40B4-BE49-F238E27FC236}">
                <a16:creationId xmlns:a16="http://schemas.microsoft.com/office/drawing/2014/main" id="{9EB0E0FE-9D71-F343-0536-DEC498089EC7}"/>
              </a:ext>
            </a:extLst>
          </p:cNvPr>
          <p:cNvSpPr txBox="1"/>
          <p:nvPr/>
        </p:nvSpPr>
        <p:spPr>
          <a:xfrm>
            <a:off x="914400" y="7112794"/>
            <a:ext cx="10005169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b="1" dirty="0">
                <a:solidFill>
                  <a:srgbClr val="FFC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Montserrat Classic"/>
              </a:rPr>
              <a:t>Presented by: DHARAMVIR SINGH</a:t>
            </a:r>
          </a:p>
          <a:p>
            <a:r>
              <a:rPr lang="en-US" sz="4000" b="1" dirty="0">
                <a:solidFill>
                  <a:srgbClr val="FFC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Montserrat Classic"/>
              </a:rPr>
              <a:t>Id :HE23546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264080">
            <a:off x="16207921" y="8856855"/>
            <a:ext cx="2716317" cy="1358159"/>
          </a:xfrm>
          <a:custGeom>
            <a:avLst/>
            <a:gdLst/>
            <a:ahLst/>
            <a:cxnLst/>
            <a:rect l="l" t="t" r="r" b="b"/>
            <a:pathLst>
              <a:path w="2716317" h="1358159">
                <a:moveTo>
                  <a:pt x="0" y="0"/>
                </a:moveTo>
                <a:lnTo>
                  <a:pt x="2716318" y="0"/>
                </a:lnTo>
                <a:lnTo>
                  <a:pt x="2716318" y="1358159"/>
                </a:lnTo>
                <a:lnTo>
                  <a:pt x="0" y="1358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13708459" y="-869275"/>
            <a:ext cx="5200379" cy="4114800"/>
          </a:xfrm>
          <a:custGeom>
            <a:avLst/>
            <a:gdLst/>
            <a:ahLst/>
            <a:cxnLst/>
            <a:rect l="l" t="t" r="r" b="b"/>
            <a:pathLst>
              <a:path w="5200379" h="4114800">
                <a:moveTo>
                  <a:pt x="5200379" y="0"/>
                </a:moveTo>
                <a:lnTo>
                  <a:pt x="0" y="0"/>
                </a:lnTo>
                <a:lnTo>
                  <a:pt x="0" y="4114800"/>
                </a:lnTo>
                <a:lnTo>
                  <a:pt x="5200379" y="4114800"/>
                </a:lnTo>
                <a:lnTo>
                  <a:pt x="520037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028700" y="1188125"/>
            <a:ext cx="15421585" cy="8419796"/>
            <a:chOff x="0" y="0"/>
            <a:chExt cx="4061652" cy="221755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061652" cy="2217559"/>
            </a:xfrm>
            <a:custGeom>
              <a:avLst/>
              <a:gdLst/>
              <a:ahLst/>
              <a:cxnLst/>
              <a:rect l="l" t="t" r="r" b="b"/>
              <a:pathLst>
                <a:path w="4061652" h="2217559">
                  <a:moveTo>
                    <a:pt x="0" y="0"/>
                  </a:moveTo>
                  <a:lnTo>
                    <a:pt x="4061652" y="0"/>
                  </a:lnTo>
                  <a:lnTo>
                    <a:pt x="4061652" y="2217559"/>
                  </a:lnTo>
                  <a:lnTo>
                    <a:pt x="0" y="2217559"/>
                  </a:lnTo>
                  <a:close/>
                </a:path>
              </a:pathLst>
            </a:custGeom>
            <a:solidFill>
              <a:srgbClr val="24536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061652" cy="22556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914400" y="9182350"/>
            <a:ext cx="2716317" cy="1358159"/>
          </a:xfrm>
          <a:custGeom>
            <a:avLst/>
            <a:gdLst/>
            <a:ahLst/>
            <a:cxnLst/>
            <a:rect l="l" t="t" r="r" b="b"/>
            <a:pathLst>
              <a:path w="2716317" h="1358159">
                <a:moveTo>
                  <a:pt x="0" y="0"/>
                </a:moveTo>
                <a:lnTo>
                  <a:pt x="2716317" y="0"/>
                </a:lnTo>
                <a:lnTo>
                  <a:pt x="2716317" y="1358159"/>
                </a:lnTo>
                <a:lnTo>
                  <a:pt x="0" y="1358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20">
            <a:extLst>
              <a:ext uri="{FF2B5EF4-FFF2-40B4-BE49-F238E27FC236}">
                <a16:creationId xmlns:a16="http://schemas.microsoft.com/office/drawing/2014/main" id="{237293A3-B11F-E4D6-2498-E3CDDEA08A8F}"/>
              </a:ext>
            </a:extLst>
          </p:cNvPr>
          <p:cNvSpPr txBox="1"/>
          <p:nvPr/>
        </p:nvSpPr>
        <p:spPr>
          <a:xfrm>
            <a:off x="1235395" y="2835855"/>
            <a:ext cx="15214890" cy="5812845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Machine Learning (ML) is revolutionizing industries such as finance, healthcare, and digital services.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Organizations are using data-driven models for prediction and optimization.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The aim of this coursework is to demonstrate understanding of ML theory and practical applications.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b="1" dirty="0">
                <a:solidFill>
                  <a:srgbClr val="FFC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Two Major Tasks: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sz="32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Theoretical foundations, algorithms, loss functions, overfitting, and ethics.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lang="en-US" altLang="en-US" sz="32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Building and optimizing a regression model for predicting house prices.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32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B8E9D67D-7E39-96A7-C726-0B89DE33B39B}"/>
              </a:ext>
            </a:extLst>
          </p:cNvPr>
          <p:cNvSpPr txBox="1"/>
          <p:nvPr/>
        </p:nvSpPr>
        <p:spPr>
          <a:xfrm>
            <a:off x="-762000" y="1875601"/>
            <a:ext cx="11550279" cy="596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77"/>
              </a:lnSpc>
            </a:pPr>
            <a:r>
              <a:rPr lang="en-US" sz="6600" b="1" dirty="0">
                <a:solidFill>
                  <a:srgbClr val="FFC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INTRODUCTION</a:t>
            </a:r>
            <a:endParaRPr lang="en-US" sz="6600" b="1" dirty="0">
              <a:solidFill>
                <a:srgbClr val="FFC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League Spart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14542983" y="8845306"/>
            <a:ext cx="2716317" cy="1358159"/>
          </a:xfrm>
          <a:custGeom>
            <a:avLst/>
            <a:gdLst/>
            <a:ahLst/>
            <a:cxnLst/>
            <a:rect l="l" t="t" r="r" b="b"/>
            <a:pathLst>
              <a:path w="2716317" h="1358159">
                <a:moveTo>
                  <a:pt x="0" y="0"/>
                </a:moveTo>
                <a:lnTo>
                  <a:pt x="2716317" y="0"/>
                </a:lnTo>
                <a:lnTo>
                  <a:pt x="2716317" y="1358158"/>
                </a:lnTo>
                <a:lnTo>
                  <a:pt x="0" y="1358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H="1">
            <a:off x="13868400" y="-1272972"/>
            <a:ext cx="5200379" cy="4114800"/>
          </a:xfrm>
          <a:custGeom>
            <a:avLst/>
            <a:gdLst/>
            <a:ahLst/>
            <a:cxnLst/>
            <a:rect l="l" t="t" r="r" b="b"/>
            <a:pathLst>
              <a:path w="5200379" h="4114800">
                <a:moveTo>
                  <a:pt x="5200379" y="0"/>
                </a:moveTo>
                <a:lnTo>
                  <a:pt x="0" y="0"/>
                </a:lnTo>
                <a:lnTo>
                  <a:pt x="0" y="4114800"/>
                </a:lnTo>
                <a:lnTo>
                  <a:pt x="5200379" y="4114800"/>
                </a:lnTo>
                <a:lnTo>
                  <a:pt x="520037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5400000">
            <a:off x="-679079" y="1707779"/>
            <a:ext cx="2716317" cy="1358159"/>
          </a:xfrm>
          <a:custGeom>
            <a:avLst/>
            <a:gdLst/>
            <a:ahLst/>
            <a:cxnLst/>
            <a:rect l="l" t="t" r="r" b="b"/>
            <a:pathLst>
              <a:path w="2716317" h="1358159">
                <a:moveTo>
                  <a:pt x="0" y="0"/>
                </a:moveTo>
                <a:lnTo>
                  <a:pt x="2716317" y="0"/>
                </a:lnTo>
                <a:lnTo>
                  <a:pt x="2716317" y="1358159"/>
                </a:lnTo>
                <a:lnTo>
                  <a:pt x="0" y="1358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-6206491" flipH="1">
            <a:off x="-2125999" y="6871441"/>
            <a:ext cx="4903436" cy="4114800"/>
          </a:xfrm>
          <a:custGeom>
            <a:avLst/>
            <a:gdLst/>
            <a:ahLst/>
            <a:cxnLst/>
            <a:rect l="l" t="t" r="r" b="b"/>
            <a:pathLst>
              <a:path w="4903436" h="4114800">
                <a:moveTo>
                  <a:pt x="4903436" y="0"/>
                </a:moveTo>
                <a:lnTo>
                  <a:pt x="0" y="0"/>
                </a:lnTo>
                <a:lnTo>
                  <a:pt x="0" y="4114800"/>
                </a:lnTo>
                <a:lnTo>
                  <a:pt x="4903436" y="4114800"/>
                </a:lnTo>
                <a:lnTo>
                  <a:pt x="490343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EE65CC9-00D6-D138-97F9-75DA44D8DE27}"/>
              </a:ext>
            </a:extLst>
          </p:cNvPr>
          <p:cNvSpPr txBox="1"/>
          <p:nvPr/>
        </p:nvSpPr>
        <p:spPr>
          <a:xfrm>
            <a:off x="1676400" y="2758417"/>
            <a:ext cx="8426411" cy="1973199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863600" lvl="2">
              <a:lnSpc>
                <a:spcPts val="3600"/>
              </a:lnSpc>
            </a:pPr>
            <a:endParaRPr lang="en-US" sz="3200" dirty="0"/>
          </a:p>
        </p:txBody>
      </p:sp>
      <p:sp>
        <p:nvSpPr>
          <p:cNvPr id="10" name="TextBox 12">
            <a:extLst>
              <a:ext uri="{FF2B5EF4-FFF2-40B4-BE49-F238E27FC236}">
                <a16:creationId xmlns:a16="http://schemas.microsoft.com/office/drawing/2014/main" id="{E2FFC326-D40C-0E71-C5BE-71808E6954AE}"/>
              </a:ext>
            </a:extLst>
          </p:cNvPr>
          <p:cNvSpPr txBox="1"/>
          <p:nvPr/>
        </p:nvSpPr>
        <p:spPr>
          <a:xfrm>
            <a:off x="1692729" y="4856558"/>
            <a:ext cx="8971395" cy="1973199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863600" lvl="2">
              <a:lnSpc>
                <a:spcPts val="3600"/>
              </a:lnSpc>
            </a:pPr>
            <a:endParaRPr lang="en-US" sz="3000" dirty="0">
              <a:latin typeface="Montserrat 1"/>
              <a:ea typeface="Montserrat 1"/>
              <a:cs typeface="Montserrat 1"/>
              <a:sym typeface="Montserrat 1"/>
            </a:endParaRPr>
          </a:p>
        </p:txBody>
      </p:sp>
      <p:sp>
        <p:nvSpPr>
          <p:cNvPr id="11" name="TextBox 15">
            <a:extLst>
              <a:ext uri="{FF2B5EF4-FFF2-40B4-BE49-F238E27FC236}">
                <a16:creationId xmlns:a16="http://schemas.microsoft.com/office/drawing/2014/main" id="{1E6DBFBD-5F3D-8D15-728C-E179E658AEFC}"/>
              </a:ext>
            </a:extLst>
          </p:cNvPr>
          <p:cNvSpPr txBox="1"/>
          <p:nvPr/>
        </p:nvSpPr>
        <p:spPr>
          <a:xfrm>
            <a:off x="1676399" y="6648174"/>
            <a:ext cx="8971395" cy="1515999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l">
              <a:lnSpc>
                <a:spcPts val="3600"/>
              </a:lnSpc>
            </a:pPr>
            <a:endParaRPr lang="en-US" sz="3000" b="1" dirty="0">
              <a:latin typeface="Montserrat 1"/>
              <a:ea typeface="Montserrat 1"/>
              <a:cs typeface="Montserrat 1"/>
              <a:sym typeface="Montserrat 1"/>
            </a:endParaRP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E2066C09-1528-CE4E-26C0-9320EA03D2B7}"/>
              </a:ext>
            </a:extLst>
          </p:cNvPr>
          <p:cNvSpPr txBox="1"/>
          <p:nvPr/>
        </p:nvSpPr>
        <p:spPr>
          <a:xfrm>
            <a:off x="2898607" y="1602966"/>
            <a:ext cx="10969793" cy="633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30"/>
              </a:lnSpc>
            </a:pPr>
            <a:r>
              <a:rPr lang="en-US" sz="8000" b="1" dirty="0">
                <a:solidFill>
                  <a:srgbClr val="FFC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SCENARIO ANALYSIS</a:t>
            </a:r>
            <a:endParaRPr lang="en-US" sz="8000" b="1" dirty="0">
              <a:solidFill>
                <a:srgbClr val="FFC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League Spartan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1030210-FFC4-BD45-95DC-18253844D4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8220" y="2758417"/>
            <a:ext cx="15773400" cy="44239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Stock Price Prediction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→ Supervised Learning (Regression). Uses labeled historical data to forecast stock prices.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Patient Segmentation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→ Unsupervised Learning (Clustering). Groups patients into categories without labels for personalized treatment.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Content Flagging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→ Supervised Learning (Classification). Identifies harmful or inappropriate content using labeled datasets.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9077308"/>
            <a:ext cx="2716317" cy="1358159"/>
          </a:xfrm>
          <a:custGeom>
            <a:avLst/>
            <a:gdLst/>
            <a:ahLst/>
            <a:cxnLst/>
            <a:rect l="l" t="t" r="r" b="b"/>
            <a:pathLst>
              <a:path w="2716317" h="1358159">
                <a:moveTo>
                  <a:pt x="0" y="0"/>
                </a:moveTo>
                <a:lnTo>
                  <a:pt x="2716317" y="0"/>
                </a:lnTo>
                <a:lnTo>
                  <a:pt x="2716317" y="1358159"/>
                </a:lnTo>
                <a:lnTo>
                  <a:pt x="0" y="1358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1186130" y="-1315773"/>
            <a:ext cx="5200379" cy="4114800"/>
          </a:xfrm>
          <a:custGeom>
            <a:avLst/>
            <a:gdLst/>
            <a:ahLst/>
            <a:cxnLst/>
            <a:rect l="l" t="t" r="r" b="b"/>
            <a:pathLst>
              <a:path w="5200379" h="4114800">
                <a:moveTo>
                  <a:pt x="0" y="0"/>
                </a:moveTo>
                <a:lnTo>
                  <a:pt x="5200379" y="0"/>
                </a:lnTo>
                <a:lnTo>
                  <a:pt x="520037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5327095">
            <a:off x="15343703" y="8730120"/>
            <a:ext cx="4903436" cy="4114800"/>
          </a:xfrm>
          <a:custGeom>
            <a:avLst/>
            <a:gdLst/>
            <a:ahLst/>
            <a:cxnLst/>
            <a:rect l="l" t="t" r="r" b="b"/>
            <a:pathLst>
              <a:path w="4903436" h="4114800">
                <a:moveTo>
                  <a:pt x="0" y="0"/>
                </a:moveTo>
                <a:lnTo>
                  <a:pt x="4903436" y="0"/>
                </a:lnTo>
                <a:lnTo>
                  <a:pt x="490343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V="1">
            <a:off x="14834801" y="0"/>
            <a:ext cx="2716317" cy="1358159"/>
          </a:xfrm>
          <a:custGeom>
            <a:avLst/>
            <a:gdLst/>
            <a:ahLst/>
            <a:cxnLst/>
            <a:rect l="l" t="t" r="r" b="b"/>
            <a:pathLst>
              <a:path w="2716317" h="1358159">
                <a:moveTo>
                  <a:pt x="0" y="1358159"/>
                </a:moveTo>
                <a:lnTo>
                  <a:pt x="2716317" y="1358159"/>
                </a:lnTo>
                <a:lnTo>
                  <a:pt x="2716317" y="0"/>
                </a:lnTo>
                <a:lnTo>
                  <a:pt x="0" y="0"/>
                </a:lnTo>
                <a:lnTo>
                  <a:pt x="0" y="1358159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BA400A8C-80D0-BA5C-3EF9-AA60B3B2B9A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246508" y="2705100"/>
            <a:ext cx="14365092" cy="59012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K-Means Clustering: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Type: </a:t>
            </a:r>
            <a:r>
              <a:rPr lang="en-US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Unsupervised</a:t>
            </a: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Groups unlabeled data into clusters. Example: Customer segmentation. Strength: Simple, scalable. Weakness: Sensitive to outliers.</a:t>
            </a:r>
          </a:p>
          <a:p>
            <a:pPr>
              <a:lnSpc>
                <a:spcPct val="150000"/>
              </a:lnSpc>
            </a:pP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K-Nearest Neighbors (KNN):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Type: </a:t>
            </a:r>
            <a:r>
              <a:rPr lang="en-US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Supervised</a:t>
            </a: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Classifies based on nearest labeled data points. Example: Spam email detection. Strength: Easy to implement. Weakness: Slow on large datasets.</a:t>
            </a: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2748377A-8610-68F3-5D7F-E604746E298E}"/>
              </a:ext>
            </a:extLst>
          </p:cNvPr>
          <p:cNvSpPr txBox="1"/>
          <p:nvPr/>
        </p:nvSpPr>
        <p:spPr>
          <a:xfrm>
            <a:off x="934145" y="1409261"/>
            <a:ext cx="16419710" cy="610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7"/>
              </a:lnSpc>
            </a:pPr>
            <a:r>
              <a:rPr lang="en-US" sz="6000" b="1" dirty="0">
                <a:solidFill>
                  <a:srgbClr val="FFC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K-MEANS VS KNN</a:t>
            </a:r>
            <a:endParaRPr lang="en-US" sz="6000" b="1" u="sng" spc="201" dirty="0">
              <a:solidFill>
                <a:srgbClr val="FFC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Open Sauce SemiBold 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95044" y="-74233"/>
            <a:ext cx="15268073" cy="10435467"/>
            <a:chOff x="0" y="0"/>
            <a:chExt cx="4021221" cy="27484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21221" cy="2748436"/>
            </a:xfrm>
            <a:custGeom>
              <a:avLst/>
              <a:gdLst/>
              <a:ahLst/>
              <a:cxnLst/>
              <a:rect l="l" t="t" r="r" b="b"/>
              <a:pathLst>
                <a:path w="4021221" h="2748436">
                  <a:moveTo>
                    <a:pt x="0" y="0"/>
                  </a:moveTo>
                  <a:lnTo>
                    <a:pt x="4021221" y="0"/>
                  </a:lnTo>
                  <a:lnTo>
                    <a:pt x="4021221" y="2748436"/>
                  </a:lnTo>
                  <a:lnTo>
                    <a:pt x="0" y="2748436"/>
                  </a:lnTo>
                  <a:close/>
                </a:path>
              </a:pathLst>
            </a:custGeom>
            <a:solidFill>
              <a:srgbClr val="24536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021221" cy="27865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flipH="1">
            <a:off x="14659110" y="-1045722"/>
            <a:ext cx="5200379" cy="4114800"/>
          </a:xfrm>
          <a:custGeom>
            <a:avLst/>
            <a:gdLst/>
            <a:ahLst/>
            <a:cxnLst/>
            <a:rect l="l" t="t" r="r" b="b"/>
            <a:pathLst>
              <a:path w="5200379" h="4114800">
                <a:moveTo>
                  <a:pt x="5200380" y="0"/>
                </a:moveTo>
                <a:lnTo>
                  <a:pt x="0" y="0"/>
                </a:lnTo>
                <a:lnTo>
                  <a:pt x="0" y="4114800"/>
                </a:lnTo>
                <a:lnTo>
                  <a:pt x="5200380" y="4114800"/>
                </a:lnTo>
                <a:lnTo>
                  <a:pt x="520038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rot="5400000" flipH="1">
            <a:off x="-679079" y="1031840"/>
            <a:ext cx="2716317" cy="1358159"/>
          </a:xfrm>
          <a:custGeom>
            <a:avLst/>
            <a:gdLst/>
            <a:ahLst/>
            <a:cxnLst/>
            <a:rect l="l" t="t" r="r" b="b"/>
            <a:pathLst>
              <a:path w="2716317" h="1358159">
                <a:moveTo>
                  <a:pt x="2716317" y="0"/>
                </a:moveTo>
                <a:lnTo>
                  <a:pt x="0" y="0"/>
                </a:lnTo>
                <a:lnTo>
                  <a:pt x="0" y="1358159"/>
                </a:lnTo>
                <a:lnTo>
                  <a:pt x="2716317" y="1358159"/>
                </a:lnTo>
                <a:lnTo>
                  <a:pt x="271631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9F1D522-7DEF-B909-6F31-46311A9310C2}"/>
              </a:ext>
            </a:extLst>
          </p:cNvPr>
          <p:cNvSpPr txBox="1"/>
          <p:nvPr/>
        </p:nvSpPr>
        <p:spPr>
          <a:xfrm>
            <a:off x="3399780" y="721085"/>
            <a:ext cx="11658600" cy="5811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77"/>
              </a:lnSpc>
            </a:pPr>
            <a:r>
              <a:rPr lang="en-US" sz="6000" b="1" dirty="0">
                <a:solidFill>
                  <a:srgbClr val="FFC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LOSS FUNCTIONS</a:t>
            </a:r>
            <a:endParaRPr lang="en-US" sz="6000" b="1" dirty="0">
              <a:solidFill>
                <a:srgbClr val="FFC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League Spartan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CC6E12-8518-A4EB-271F-9D48A3F7CB8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057400" y="1312597"/>
            <a:ext cx="14249400" cy="8141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Loss function quantifies the discrepancy between a model's predicted and actual outcomes.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chemeClr val="bg1"/>
                </a:solidFill>
              </a:rPr>
              <a:t>Linear Regression</a:t>
            </a:r>
            <a:endParaRPr lang="en-US" sz="32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chemeClr val="bg1"/>
                </a:solidFill>
              </a:rPr>
              <a:t>Metric: Mean Squared Error (MSE)</a:t>
            </a:r>
            <a:r>
              <a:rPr lang="en-US" sz="3200" dirty="0">
                <a:solidFill>
                  <a:schemeClr val="bg1"/>
                </a:solidFill>
              </a:rPr>
              <a:t> Formula: 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MSE=n1​∑</a:t>
            </a:r>
            <a:r>
              <a:rPr lang="en-US" sz="3200" dirty="0" err="1">
                <a:solidFill>
                  <a:schemeClr val="bg1"/>
                </a:solidFill>
              </a:rPr>
              <a:t>i</a:t>
            </a:r>
            <a:r>
              <a:rPr lang="en-US" sz="3200" dirty="0">
                <a:solidFill>
                  <a:schemeClr val="bg1"/>
                </a:solidFill>
              </a:rPr>
              <a:t>=1n​(</a:t>
            </a:r>
            <a:r>
              <a:rPr lang="en-US" sz="3200" dirty="0" err="1">
                <a:solidFill>
                  <a:schemeClr val="bg1"/>
                </a:solidFill>
              </a:rPr>
              <a:t>yi</a:t>
            </a:r>
            <a:r>
              <a:rPr lang="en-US" sz="3200" dirty="0">
                <a:solidFill>
                  <a:schemeClr val="bg1"/>
                </a:solidFill>
              </a:rPr>
              <a:t>​−y^​</a:t>
            </a:r>
            <a:r>
              <a:rPr lang="en-US" sz="3200" dirty="0" err="1">
                <a:solidFill>
                  <a:schemeClr val="bg1"/>
                </a:solidFill>
              </a:rPr>
              <a:t>i</a:t>
            </a:r>
            <a:r>
              <a:rPr lang="en-US" sz="3200" dirty="0">
                <a:solidFill>
                  <a:schemeClr val="bg1"/>
                </a:solidFill>
              </a:rPr>
              <a:t>​)2 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Example: For a given dataset, the MSE is 0.11.</a:t>
            </a:r>
          </a:p>
          <a:p>
            <a:pPr>
              <a:lnSpc>
                <a:spcPct val="150000"/>
              </a:lnSpc>
            </a:pPr>
            <a:endParaRPr lang="en-US" sz="32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chemeClr val="bg1"/>
                </a:solidFill>
              </a:rPr>
              <a:t>Significance:</a:t>
            </a:r>
            <a:endParaRPr lang="en-US" sz="32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Exaggerates the penalty for significant prediction errors.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chemeClr val="bg1"/>
                </a:solidFill>
              </a:rPr>
              <a:t>Differentiable</a:t>
            </a:r>
            <a:r>
              <a:rPr lang="en-US" sz="3200" dirty="0">
                <a:solidFill>
                  <a:schemeClr val="bg1"/>
                </a:solidFill>
              </a:rPr>
              <a:t>, which is essential for model optimization through gradient descent.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chemeClr val="bg1"/>
                </a:solidFill>
              </a:rPr>
              <a:t>Alternatives</a:t>
            </a:r>
            <a:r>
              <a:rPr lang="en-US" sz="3200" dirty="0">
                <a:solidFill>
                  <a:schemeClr val="bg1"/>
                </a:solidFill>
              </a:rPr>
              <a:t> include Mean Absolute Error (MAE) and Huber Loss.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10648495">
            <a:off x="14234262" y="-1028700"/>
            <a:ext cx="4903436" cy="4114800"/>
          </a:xfrm>
          <a:custGeom>
            <a:avLst/>
            <a:gdLst/>
            <a:ahLst/>
            <a:cxnLst/>
            <a:rect l="l" t="t" r="r" b="b"/>
            <a:pathLst>
              <a:path w="4903436" h="4114800">
                <a:moveTo>
                  <a:pt x="0" y="0"/>
                </a:moveTo>
                <a:lnTo>
                  <a:pt x="4903436" y="0"/>
                </a:lnTo>
                <a:lnTo>
                  <a:pt x="490343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697215" y="2301922"/>
            <a:ext cx="5323153" cy="7165197"/>
            <a:chOff x="0" y="0"/>
            <a:chExt cx="1301137" cy="17513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01137" cy="1751387"/>
            </a:xfrm>
            <a:custGeom>
              <a:avLst/>
              <a:gdLst/>
              <a:ahLst/>
              <a:cxnLst/>
              <a:rect l="l" t="t" r="r" b="b"/>
              <a:pathLst>
                <a:path w="1301137" h="1751387">
                  <a:moveTo>
                    <a:pt x="21816" y="0"/>
                  </a:moveTo>
                  <a:lnTo>
                    <a:pt x="1279321" y="0"/>
                  </a:lnTo>
                  <a:cubicBezTo>
                    <a:pt x="1285107" y="0"/>
                    <a:pt x="1290656" y="2298"/>
                    <a:pt x="1294747" y="6390"/>
                  </a:cubicBezTo>
                  <a:cubicBezTo>
                    <a:pt x="1298838" y="10481"/>
                    <a:pt x="1301137" y="16030"/>
                    <a:pt x="1301137" y="21816"/>
                  </a:cubicBezTo>
                  <a:lnTo>
                    <a:pt x="1301137" y="1729571"/>
                  </a:lnTo>
                  <a:cubicBezTo>
                    <a:pt x="1301137" y="1735357"/>
                    <a:pt x="1298838" y="1740906"/>
                    <a:pt x="1294747" y="1744997"/>
                  </a:cubicBezTo>
                  <a:cubicBezTo>
                    <a:pt x="1290656" y="1749088"/>
                    <a:pt x="1285107" y="1751387"/>
                    <a:pt x="1279321" y="1751387"/>
                  </a:cubicBezTo>
                  <a:lnTo>
                    <a:pt x="21816" y="1751387"/>
                  </a:lnTo>
                  <a:cubicBezTo>
                    <a:pt x="16030" y="1751387"/>
                    <a:pt x="10481" y="1749088"/>
                    <a:pt x="6390" y="1744997"/>
                  </a:cubicBezTo>
                  <a:cubicBezTo>
                    <a:pt x="2298" y="1740906"/>
                    <a:pt x="0" y="1735357"/>
                    <a:pt x="0" y="1729571"/>
                  </a:cubicBezTo>
                  <a:lnTo>
                    <a:pt x="0" y="21816"/>
                  </a:lnTo>
                  <a:cubicBezTo>
                    <a:pt x="0" y="16030"/>
                    <a:pt x="2298" y="10481"/>
                    <a:pt x="6390" y="6390"/>
                  </a:cubicBezTo>
                  <a:cubicBezTo>
                    <a:pt x="10481" y="2298"/>
                    <a:pt x="16030" y="0"/>
                    <a:pt x="2181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301137" cy="17894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TextBox 13">
            <a:extLst>
              <a:ext uri="{FF2B5EF4-FFF2-40B4-BE49-F238E27FC236}">
                <a16:creationId xmlns:a16="http://schemas.microsoft.com/office/drawing/2014/main" id="{208A43C5-08E7-20BD-DC41-0732B5946E42}"/>
              </a:ext>
            </a:extLst>
          </p:cNvPr>
          <p:cNvSpPr txBox="1"/>
          <p:nvPr/>
        </p:nvSpPr>
        <p:spPr>
          <a:xfrm>
            <a:off x="4419600" y="3015045"/>
            <a:ext cx="18024498" cy="683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7"/>
              </a:lnSpc>
            </a:pPr>
            <a:r>
              <a:rPr lang="en-US" sz="8800" b="1" dirty="0">
                <a:solidFill>
                  <a:srgbClr val="FFC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OVERFITTING</a:t>
            </a:r>
            <a:endParaRPr lang="en-US" sz="8800" b="1" u="sng" spc="201" dirty="0">
              <a:solidFill>
                <a:srgbClr val="FFC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Open Sauce SemiBold Bold"/>
            </a:endParaRPr>
          </a:p>
        </p:txBody>
      </p:sp>
      <p:sp>
        <p:nvSpPr>
          <p:cNvPr id="7" name="TextBox 14">
            <a:extLst>
              <a:ext uri="{FF2B5EF4-FFF2-40B4-BE49-F238E27FC236}">
                <a16:creationId xmlns:a16="http://schemas.microsoft.com/office/drawing/2014/main" id="{C24190CF-A859-AF10-0E63-8FBBC8017871}"/>
              </a:ext>
            </a:extLst>
          </p:cNvPr>
          <p:cNvSpPr txBox="1"/>
          <p:nvPr/>
        </p:nvSpPr>
        <p:spPr>
          <a:xfrm>
            <a:off x="421534" y="5298827"/>
            <a:ext cx="16385559" cy="44364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Definition: </a:t>
            </a:r>
            <a:r>
              <a:rPr lang="en-US" sz="28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 performs well on training data but poorly on unseen data.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Causes: Complex models, too few samples, noisy datasets.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Consequences: </a:t>
            </a:r>
            <a:r>
              <a:rPr lang="en-US" sz="28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Poor generalization, unreliable predictions.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Solutions: Use Regularization (L1, L2).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Apply Cross-validation.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 more training data.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Simplify model structure.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9CF0D0E-18C8-CF1D-28FB-260F3AD745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0893"/>
            <a:ext cx="8839200" cy="519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859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-1186130" y="-1315773"/>
            <a:ext cx="5200379" cy="4114800"/>
          </a:xfrm>
          <a:custGeom>
            <a:avLst/>
            <a:gdLst/>
            <a:ahLst/>
            <a:cxnLst/>
            <a:rect l="l" t="t" r="r" b="b"/>
            <a:pathLst>
              <a:path w="5200379" h="4114800">
                <a:moveTo>
                  <a:pt x="0" y="0"/>
                </a:moveTo>
                <a:lnTo>
                  <a:pt x="5200379" y="0"/>
                </a:lnTo>
                <a:lnTo>
                  <a:pt x="520037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3078892" y="9012555"/>
            <a:ext cx="2716317" cy="1358159"/>
          </a:xfrm>
          <a:custGeom>
            <a:avLst/>
            <a:gdLst/>
            <a:ahLst/>
            <a:cxnLst/>
            <a:rect l="l" t="t" r="r" b="b"/>
            <a:pathLst>
              <a:path w="2716317" h="1358159">
                <a:moveTo>
                  <a:pt x="0" y="0"/>
                </a:moveTo>
                <a:lnTo>
                  <a:pt x="2716318" y="0"/>
                </a:lnTo>
                <a:lnTo>
                  <a:pt x="2716318" y="1358159"/>
                </a:lnTo>
                <a:lnTo>
                  <a:pt x="0" y="13581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0" y="8928841"/>
            <a:ext cx="2716317" cy="1358159"/>
          </a:xfrm>
          <a:custGeom>
            <a:avLst/>
            <a:gdLst/>
            <a:ahLst/>
            <a:cxnLst/>
            <a:rect l="l" t="t" r="r" b="b"/>
            <a:pathLst>
              <a:path w="2716317" h="1358159">
                <a:moveTo>
                  <a:pt x="0" y="0"/>
                </a:moveTo>
                <a:lnTo>
                  <a:pt x="2716317" y="0"/>
                </a:lnTo>
                <a:lnTo>
                  <a:pt x="2716317" y="1358159"/>
                </a:lnTo>
                <a:lnTo>
                  <a:pt x="0" y="1358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extBox 9">
            <a:extLst>
              <a:ext uri="{FF2B5EF4-FFF2-40B4-BE49-F238E27FC236}">
                <a16:creationId xmlns:a16="http://schemas.microsoft.com/office/drawing/2014/main" id="{A833F39B-80BE-C27B-8501-7FDAB9B44F7E}"/>
              </a:ext>
            </a:extLst>
          </p:cNvPr>
          <p:cNvSpPr txBox="1"/>
          <p:nvPr/>
        </p:nvSpPr>
        <p:spPr>
          <a:xfrm>
            <a:off x="762000" y="548062"/>
            <a:ext cx="15069676" cy="765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6000" b="1" dirty="0">
                <a:solidFill>
                  <a:srgbClr val="FFC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ERROR CURVES</a:t>
            </a:r>
            <a:endParaRPr lang="en-US" sz="5600" b="1" dirty="0">
              <a:solidFill>
                <a:srgbClr val="FFC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Open Sauce Semi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03F414-5E90-643E-E2D0-D18E2E4511F6}"/>
              </a:ext>
            </a:extLst>
          </p:cNvPr>
          <p:cNvSpPr txBox="1"/>
          <p:nvPr/>
        </p:nvSpPr>
        <p:spPr>
          <a:xfrm>
            <a:off x="304800" y="2858803"/>
            <a:ext cx="101346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Curve I –</a:t>
            </a:r>
          </a:p>
          <a:p>
            <a:r>
              <a:rPr lang="en-US" sz="32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Overfitting: Low training error, high validation error.</a:t>
            </a:r>
          </a:p>
          <a:p>
            <a:r>
              <a:rPr lang="en-US" sz="32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Actions: Add data, apply regularization, simplify model.</a:t>
            </a:r>
          </a:p>
          <a:p>
            <a:endParaRPr lang="en-US" sz="3200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32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Curve II – </a:t>
            </a:r>
          </a:p>
          <a:p>
            <a:r>
              <a:rPr lang="en-US" sz="32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Underfitting: Both training and validation errors are high.</a:t>
            </a:r>
          </a:p>
          <a:p>
            <a:r>
              <a:rPr lang="en-US" sz="32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Actions: Increase model complexity, improve training quality</a:t>
            </a:r>
          </a:p>
        </p:txBody>
      </p:sp>
      <p:pic>
        <p:nvPicPr>
          <p:cNvPr id="9" name="Picture 8" descr="Chart&#10;&#10;Description automatically generated">
            <a:extLst>
              <a:ext uri="{FF2B5EF4-FFF2-40B4-BE49-F238E27FC236}">
                <a16:creationId xmlns:a16="http://schemas.microsoft.com/office/drawing/2014/main" id="{3CEB408D-71F3-F8A3-1E2A-5DB8378E8D0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30475" y="1437730"/>
            <a:ext cx="7291695" cy="4191000"/>
          </a:xfrm>
          <a:prstGeom prst="rect">
            <a:avLst/>
          </a:prstGeom>
        </p:spPr>
      </p:pic>
      <p:pic>
        <p:nvPicPr>
          <p:cNvPr id="10" name="Picture 9" descr="Diagram&#10;&#10;Description automatically generated with low confidence">
            <a:extLst>
              <a:ext uri="{FF2B5EF4-FFF2-40B4-BE49-F238E27FC236}">
                <a16:creationId xmlns:a16="http://schemas.microsoft.com/office/drawing/2014/main" id="{CCDCC9A3-F0DD-188B-C6B7-0AFA3E580FE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0474" y="5780061"/>
            <a:ext cx="7291695" cy="4191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6053165" y="371436"/>
            <a:ext cx="1052771" cy="1052771"/>
            <a:chOff x="0" y="0"/>
            <a:chExt cx="277273" cy="27727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77273" cy="277273"/>
            </a:xfrm>
            <a:custGeom>
              <a:avLst/>
              <a:gdLst/>
              <a:ahLst/>
              <a:cxnLst/>
              <a:rect l="l" t="t" r="r" b="b"/>
              <a:pathLst>
                <a:path w="277273" h="277273">
                  <a:moveTo>
                    <a:pt x="0" y="0"/>
                  </a:moveTo>
                  <a:lnTo>
                    <a:pt x="277273" y="0"/>
                  </a:lnTo>
                  <a:lnTo>
                    <a:pt x="277273" y="277273"/>
                  </a:lnTo>
                  <a:lnTo>
                    <a:pt x="0" y="277273"/>
                  </a:lnTo>
                  <a:close/>
                </a:path>
              </a:pathLst>
            </a:custGeom>
            <a:solidFill>
              <a:srgbClr val="E87C67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77273" cy="3153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7105936" y="1448020"/>
            <a:ext cx="1052771" cy="1052771"/>
            <a:chOff x="0" y="0"/>
            <a:chExt cx="277273" cy="27727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77273" cy="277273"/>
            </a:xfrm>
            <a:custGeom>
              <a:avLst/>
              <a:gdLst/>
              <a:ahLst/>
              <a:cxnLst/>
              <a:rect l="l" t="t" r="r" b="b"/>
              <a:pathLst>
                <a:path w="277273" h="277273">
                  <a:moveTo>
                    <a:pt x="0" y="0"/>
                  </a:moveTo>
                  <a:lnTo>
                    <a:pt x="277273" y="0"/>
                  </a:lnTo>
                  <a:lnTo>
                    <a:pt x="277273" y="277273"/>
                  </a:lnTo>
                  <a:lnTo>
                    <a:pt x="0" y="277273"/>
                  </a:lnTo>
                  <a:close/>
                </a:path>
              </a:pathLst>
            </a:custGeom>
            <a:solidFill>
              <a:srgbClr val="F9D6B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77273" cy="3153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76228" y="657124"/>
            <a:ext cx="1052771" cy="1052771"/>
            <a:chOff x="0" y="0"/>
            <a:chExt cx="277273" cy="27727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77273" cy="277273"/>
            </a:xfrm>
            <a:custGeom>
              <a:avLst/>
              <a:gdLst/>
              <a:ahLst/>
              <a:cxnLst/>
              <a:rect l="l" t="t" r="r" b="b"/>
              <a:pathLst>
                <a:path w="277273" h="277273">
                  <a:moveTo>
                    <a:pt x="0" y="0"/>
                  </a:moveTo>
                  <a:lnTo>
                    <a:pt x="277273" y="0"/>
                  </a:lnTo>
                  <a:lnTo>
                    <a:pt x="277273" y="277273"/>
                  </a:lnTo>
                  <a:lnTo>
                    <a:pt x="0" y="277273"/>
                  </a:lnTo>
                  <a:close/>
                </a:path>
              </a:pathLst>
            </a:custGeom>
            <a:solidFill>
              <a:srgbClr val="E87C6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277273" cy="3153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23457" y="1733708"/>
            <a:ext cx="1052771" cy="1052771"/>
            <a:chOff x="0" y="0"/>
            <a:chExt cx="277273" cy="27727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77273" cy="277273"/>
            </a:xfrm>
            <a:custGeom>
              <a:avLst/>
              <a:gdLst/>
              <a:ahLst/>
              <a:cxnLst/>
              <a:rect l="l" t="t" r="r" b="b"/>
              <a:pathLst>
                <a:path w="277273" h="277273">
                  <a:moveTo>
                    <a:pt x="0" y="0"/>
                  </a:moveTo>
                  <a:lnTo>
                    <a:pt x="277273" y="0"/>
                  </a:lnTo>
                  <a:lnTo>
                    <a:pt x="277273" y="277273"/>
                  </a:lnTo>
                  <a:lnTo>
                    <a:pt x="0" y="277273"/>
                  </a:lnTo>
                  <a:close/>
                </a:path>
              </a:pathLst>
            </a:custGeom>
            <a:solidFill>
              <a:srgbClr val="F9D6B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277273" cy="3153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62715" y="7626747"/>
            <a:ext cx="1052771" cy="1052771"/>
            <a:chOff x="0" y="0"/>
            <a:chExt cx="277273" cy="27727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77273" cy="277273"/>
            </a:xfrm>
            <a:custGeom>
              <a:avLst/>
              <a:gdLst/>
              <a:ahLst/>
              <a:cxnLst/>
              <a:rect l="l" t="t" r="r" b="b"/>
              <a:pathLst>
                <a:path w="277273" h="277273">
                  <a:moveTo>
                    <a:pt x="0" y="0"/>
                  </a:moveTo>
                  <a:lnTo>
                    <a:pt x="277273" y="0"/>
                  </a:lnTo>
                  <a:lnTo>
                    <a:pt x="277273" y="277273"/>
                  </a:lnTo>
                  <a:lnTo>
                    <a:pt x="0" y="277273"/>
                  </a:lnTo>
                  <a:close/>
                </a:path>
              </a:pathLst>
            </a:custGeom>
            <a:solidFill>
              <a:srgbClr val="F9D6B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277273" cy="3153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215486" y="8703331"/>
            <a:ext cx="1052771" cy="1052771"/>
            <a:chOff x="0" y="0"/>
            <a:chExt cx="277273" cy="277273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77273" cy="277273"/>
            </a:xfrm>
            <a:custGeom>
              <a:avLst/>
              <a:gdLst/>
              <a:ahLst/>
              <a:cxnLst/>
              <a:rect l="l" t="t" r="r" b="b"/>
              <a:pathLst>
                <a:path w="277273" h="277273">
                  <a:moveTo>
                    <a:pt x="0" y="0"/>
                  </a:moveTo>
                  <a:lnTo>
                    <a:pt x="277273" y="0"/>
                  </a:lnTo>
                  <a:lnTo>
                    <a:pt x="277273" y="277273"/>
                  </a:lnTo>
                  <a:lnTo>
                    <a:pt x="0" y="277273"/>
                  </a:lnTo>
                  <a:close/>
                </a:path>
              </a:pathLst>
            </a:custGeom>
            <a:solidFill>
              <a:srgbClr val="E87C6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277273" cy="3153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6194239" y="8876575"/>
            <a:ext cx="1052771" cy="1052771"/>
            <a:chOff x="0" y="0"/>
            <a:chExt cx="277273" cy="277273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77273" cy="277273"/>
            </a:xfrm>
            <a:custGeom>
              <a:avLst/>
              <a:gdLst/>
              <a:ahLst/>
              <a:cxnLst/>
              <a:rect l="l" t="t" r="r" b="b"/>
              <a:pathLst>
                <a:path w="277273" h="277273">
                  <a:moveTo>
                    <a:pt x="0" y="0"/>
                  </a:moveTo>
                  <a:lnTo>
                    <a:pt x="277273" y="0"/>
                  </a:lnTo>
                  <a:lnTo>
                    <a:pt x="277273" y="277273"/>
                  </a:lnTo>
                  <a:lnTo>
                    <a:pt x="0" y="277273"/>
                  </a:lnTo>
                  <a:close/>
                </a:path>
              </a:pathLst>
            </a:custGeom>
            <a:solidFill>
              <a:srgbClr val="E87C6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277273" cy="3153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7242109" y="7823804"/>
            <a:ext cx="1052771" cy="1052771"/>
            <a:chOff x="0" y="0"/>
            <a:chExt cx="277273" cy="277273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77273" cy="277273"/>
            </a:xfrm>
            <a:custGeom>
              <a:avLst/>
              <a:gdLst/>
              <a:ahLst/>
              <a:cxnLst/>
              <a:rect l="l" t="t" r="r" b="b"/>
              <a:pathLst>
                <a:path w="277273" h="277273">
                  <a:moveTo>
                    <a:pt x="0" y="0"/>
                  </a:moveTo>
                  <a:lnTo>
                    <a:pt x="277273" y="0"/>
                  </a:lnTo>
                  <a:lnTo>
                    <a:pt x="277273" y="277273"/>
                  </a:lnTo>
                  <a:lnTo>
                    <a:pt x="0" y="277273"/>
                  </a:lnTo>
                  <a:close/>
                </a:path>
              </a:pathLst>
            </a:custGeom>
            <a:solidFill>
              <a:srgbClr val="F9D6B7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277273" cy="3153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4">
            <a:extLst>
              <a:ext uri="{FF2B5EF4-FFF2-40B4-BE49-F238E27FC236}">
                <a16:creationId xmlns:a16="http://schemas.microsoft.com/office/drawing/2014/main" id="{C7E01472-294E-8AAC-01E8-D987E7674AF4}"/>
              </a:ext>
            </a:extLst>
          </p:cNvPr>
          <p:cNvSpPr txBox="1"/>
          <p:nvPr/>
        </p:nvSpPr>
        <p:spPr>
          <a:xfrm>
            <a:off x="131751" y="1031521"/>
            <a:ext cx="18024498" cy="610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7"/>
              </a:lnSpc>
            </a:pPr>
            <a:r>
              <a:rPr lang="en-US" sz="6000" b="1" dirty="0">
                <a:solidFill>
                  <a:srgbClr val="FFC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RISKS IN M</a:t>
            </a:r>
            <a:endParaRPr lang="en-US" sz="6000" b="1" u="sng" spc="201" dirty="0">
              <a:solidFill>
                <a:srgbClr val="FFC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Open Sauce SemiBold 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B0EEC6-C673-8AD3-4997-F835A37FEE33}"/>
              </a:ext>
            </a:extLst>
          </p:cNvPr>
          <p:cNvSpPr txBox="1"/>
          <p:nvPr/>
        </p:nvSpPr>
        <p:spPr>
          <a:xfrm>
            <a:off x="2007515" y="1790700"/>
            <a:ext cx="14720498" cy="6924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Bias: </a:t>
            </a:r>
            <a:r>
              <a:rPr lang="en-US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Issue:</a:t>
            </a: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 facial recognition system incorrectly identifies individuals with darker skin tones.</a:t>
            </a:r>
          </a:p>
          <a:p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Errors: </a:t>
            </a:r>
            <a:r>
              <a:rPr lang="en-US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Issue:</a:t>
            </a: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 medical diagnosis from an AI model is incorrect, leading to patient harm.</a:t>
            </a:r>
          </a:p>
          <a:p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Low Generalization: </a:t>
            </a:r>
            <a:r>
              <a:rPr lang="en-US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Issue:</a:t>
            </a: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 model trained on city data performs poorly when used in rural areas.</a:t>
            </a:r>
            <a:b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Accountability: </a:t>
            </a:r>
            <a:r>
              <a:rPr lang="en-US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Issue:</a:t>
            </a: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Determining who is liable when an autonomous vehicle is involved in a collision.</a:t>
            </a:r>
          </a:p>
          <a:p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Summary:</a:t>
            </a: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Ethical machine learning demands </a:t>
            </a:r>
            <a:r>
              <a:rPr lang="en-US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fairness</a:t>
            </a: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transparency</a:t>
            </a: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and </a:t>
            </a:r>
            <a:r>
              <a:rPr lang="en-US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governance</a:t>
            </a: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3"/>
          <p:cNvSpPr/>
          <p:nvPr/>
        </p:nvSpPr>
        <p:spPr>
          <a:xfrm>
            <a:off x="14542983" y="9077308"/>
            <a:ext cx="2716317" cy="1358159"/>
          </a:xfrm>
          <a:custGeom>
            <a:avLst/>
            <a:gdLst/>
            <a:ahLst/>
            <a:cxnLst/>
            <a:rect l="l" t="t" r="r" b="b"/>
            <a:pathLst>
              <a:path w="2716317" h="1358159">
                <a:moveTo>
                  <a:pt x="0" y="0"/>
                </a:moveTo>
                <a:lnTo>
                  <a:pt x="2716317" y="0"/>
                </a:lnTo>
                <a:lnTo>
                  <a:pt x="2716317" y="1358159"/>
                </a:lnTo>
                <a:lnTo>
                  <a:pt x="0" y="1358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-1186130" y="-1315773"/>
            <a:ext cx="5200379" cy="4114800"/>
          </a:xfrm>
          <a:custGeom>
            <a:avLst/>
            <a:gdLst/>
            <a:ahLst/>
            <a:cxnLst/>
            <a:rect l="l" t="t" r="r" b="b"/>
            <a:pathLst>
              <a:path w="5200379" h="4114800">
                <a:moveTo>
                  <a:pt x="0" y="0"/>
                </a:moveTo>
                <a:lnTo>
                  <a:pt x="5200379" y="0"/>
                </a:lnTo>
                <a:lnTo>
                  <a:pt x="520037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A2B4549D-09D0-9280-35A0-D2E15A792605}"/>
              </a:ext>
            </a:extLst>
          </p:cNvPr>
          <p:cNvSpPr txBox="1"/>
          <p:nvPr/>
        </p:nvSpPr>
        <p:spPr>
          <a:xfrm>
            <a:off x="3200400" y="344082"/>
            <a:ext cx="13561627" cy="79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95"/>
              </a:lnSpc>
            </a:pPr>
            <a:r>
              <a:rPr lang="en-US" sz="6000" b="1" dirty="0">
                <a:solidFill>
                  <a:srgbClr val="FFC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EXPLORATION</a:t>
            </a:r>
            <a:endParaRPr lang="en-US" sz="5900" b="1" dirty="0">
              <a:solidFill>
                <a:srgbClr val="FFC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Open Sauce SemiBold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EF6FB19-784B-6FF2-2ED1-784EF6B5D9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196" y="4762500"/>
            <a:ext cx="1295400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 Data:</a:t>
            </a:r>
          </a:p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Source Data: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10,000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instances, each with features like 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Area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number of 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Bedrooms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number of 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Bathrooms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Geographic Position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and 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Value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Preparation: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Categorical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data was converted using 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one-hot encoding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while 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numerical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data was 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normalized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b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Findings: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strong connection was found between 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Area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and 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Value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Geographic Position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influenced the range of 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Values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count of 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Bedrooms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was spread out consistently.</a:t>
            </a:r>
          </a:p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Value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followed a pattern close to a 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normal distribution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B8EA87-5F2B-13D4-1361-A32E98AF87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1190" y="1104900"/>
            <a:ext cx="4388324" cy="32912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9AB80EF-B1B9-C1CD-2509-33FD8CEC0E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05982" y="1167638"/>
            <a:ext cx="4388324" cy="32912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7C1798F-DCB5-B435-6127-65F3E370FF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200239" y="1436643"/>
            <a:ext cx="4114800" cy="3086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BD9B36-E2A0-CA21-06E6-EC66EAEC4F4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144499" y="4703920"/>
            <a:ext cx="4853305" cy="363997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13200404" y="8192865"/>
            <a:ext cx="4261740" cy="2130870"/>
          </a:xfrm>
          <a:custGeom>
            <a:avLst/>
            <a:gdLst/>
            <a:ahLst/>
            <a:cxnLst/>
            <a:rect l="l" t="t" r="r" b="b"/>
            <a:pathLst>
              <a:path w="4261740" h="2130870">
                <a:moveTo>
                  <a:pt x="0" y="0"/>
                </a:moveTo>
                <a:lnTo>
                  <a:pt x="4261740" y="0"/>
                </a:lnTo>
                <a:lnTo>
                  <a:pt x="4261740" y="2130870"/>
                </a:lnTo>
                <a:lnTo>
                  <a:pt x="0" y="21308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956439" y="-507417"/>
            <a:ext cx="5200379" cy="4114800"/>
          </a:xfrm>
          <a:custGeom>
            <a:avLst/>
            <a:gdLst/>
            <a:ahLst/>
            <a:cxnLst/>
            <a:rect l="l" t="t" r="r" b="b"/>
            <a:pathLst>
              <a:path w="5200379" h="4114800">
                <a:moveTo>
                  <a:pt x="0" y="0"/>
                </a:moveTo>
                <a:lnTo>
                  <a:pt x="5200379" y="0"/>
                </a:lnTo>
                <a:lnTo>
                  <a:pt x="520037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0001451" y="8873231"/>
            <a:ext cx="2901008" cy="1450504"/>
          </a:xfrm>
          <a:custGeom>
            <a:avLst/>
            <a:gdLst/>
            <a:ahLst/>
            <a:cxnLst/>
            <a:rect l="l" t="t" r="r" b="b"/>
            <a:pathLst>
              <a:path w="2901008" h="1450504">
                <a:moveTo>
                  <a:pt x="0" y="0"/>
                </a:moveTo>
                <a:lnTo>
                  <a:pt x="2901007" y="0"/>
                </a:lnTo>
                <a:lnTo>
                  <a:pt x="2901007" y="1450504"/>
                </a:lnTo>
                <a:lnTo>
                  <a:pt x="0" y="14505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18DC8633-937F-DAAD-4E4C-E0DDB5F1D07E}"/>
              </a:ext>
            </a:extLst>
          </p:cNvPr>
          <p:cNvSpPr txBox="1"/>
          <p:nvPr/>
        </p:nvSpPr>
        <p:spPr>
          <a:xfrm>
            <a:off x="1791596" y="571500"/>
            <a:ext cx="16419710" cy="610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7"/>
              </a:lnSpc>
            </a:pPr>
            <a:r>
              <a:rPr lang="en-US" sz="6000" b="1" dirty="0">
                <a:solidFill>
                  <a:srgbClr val="FFC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 SELECTION</a:t>
            </a:r>
            <a:endParaRPr lang="en-US" sz="6000" b="1" u="sng" spc="201" dirty="0">
              <a:solidFill>
                <a:srgbClr val="FFC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Open Sauce SemiBold Bold"/>
            </a:endParaRPr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86AEDFFF-DC74-2941-DAA8-337BBB7B0ED7}"/>
              </a:ext>
            </a:extLst>
          </p:cNvPr>
          <p:cNvSpPr txBox="1"/>
          <p:nvPr/>
        </p:nvSpPr>
        <p:spPr>
          <a:xfrm>
            <a:off x="3881284" y="1529089"/>
            <a:ext cx="14325106" cy="64017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Trained Models:</a:t>
            </a:r>
          </a:p>
          <a:p>
            <a:r>
              <a:rPr lang="en-US" sz="32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Linear Regression</a:t>
            </a:r>
            <a:r>
              <a:rPr lang="en-US" sz="32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A simple model that is easy to understand and provided strong results.</a:t>
            </a:r>
          </a:p>
          <a:p>
            <a:r>
              <a:rPr lang="en-US" sz="32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Decision Tree</a:t>
            </a:r>
            <a:r>
              <a:rPr lang="en-US" sz="32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Capable of identifying complex patterns but can sometimes overfit the training data.</a:t>
            </a:r>
          </a:p>
          <a:p>
            <a:r>
              <a:rPr lang="en-US" sz="32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Random Forest</a:t>
            </a:r>
            <a:r>
              <a:rPr lang="en-US" sz="32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An ensemble method that effectively balances high accuracy with good generalization.</a:t>
            </a:r>
          </a:p>
          <a:p>
            <a:br>
              <a:rPr lang="en-US" sz="32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3200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32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Evaluation and Outcomes: The models were assessed using several metrics, including </a:t>
            </a:r>
            <a:r>
              <a:rPr lang="en-US" sz="32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Mean Squared Error (MSE)</a:t>
            </a:r>
            <a:r>
              <a:rPr lang="en-US" sz="32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32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Root Mean Squared Error (RMSE)</a:t>
            </a:r>
            <a:r>
              <a:rPr lang="en-US" sz="32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and </a:t>
            </a:r>
            <a:r>
              <a:rPr lang="en-US" sz="32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R-squared (R2)</a:t>
            </a:r>
            <a:r>
              <a:rPr lang="en-US" sz="32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The </a:t>
            </a:r>
            <a:r>
              <a:rPr lang="en-US" sz="32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Linear Regression</a:t>
            </a:r>
            <a:r>
              <a:rPr lang="en-US" sz="32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model was the top performer, achieving an </a:t>
            </a:r>
            <a:r>
              <a:rPr lang="en-US" sz="32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R2 score of 0.94</a:t>
            </a:r>
            <a:r>
              <a:rPr lang="en-US" sz="32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0E66ADDF-977B-F27B-19BA-FDFBB71F15BB}"/>
              </a:ext>
            </a:extLst>
          </p:cNvPr>
          <p:cNvSpPr/>
          <p:nvPr/>
        </p:nvSpPr>
        <p:spPr>
          <a:xfrm>
            <a:off x="-1333843" y="6212622"/>
            <a:ext cx="5200379" cy="4114800"/>
          </a:xfrm>
          <a:custGeom>
            <a:avLst/>
            <a:gdLst/>
            <a:ahLst/>
            <a:cxnLst/>
            <a:rect l="l" t="t" r="r" b="b"/>
            <a:pathLst>
              <a:path w="5200379" h="4114800">
                <a:moveTo>
                  <a:pt x="0" y="0"/>
                </a:moveTo>
                <a:lnTo>
                  <a:pt x="5200379" y="0"/>
                </a:lnTo>
                <a:lnTo>
                  <a:pt x="520037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1461FD-E637-7F10-936A-810A3A045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>
            <a:extLst>
              <a:ext uri="{FF2B5EF4-FFF2-40B4-BE49-F238E27FC236}">
                <a16:creationId xmlns:a16="http://schemas.microsoft.com/office/drawing/2014/main" id="{798C01CD-FF1C-C002-72F5-1E76E8A7FA40}"/>
              </a:ext>
            </a:extLst>
          </p:cNvPr>
          <p:cNvSpPr/>
          <p:nvPr/>
        </p:nvSpPr>
        <p:spPr>
          <a:xfrm>
            <a:off x="14904877" y="-418174"/>
            <a:ext cx="4261740" cy="2130870"/>
          </a:xfrm>
          <a:custGeom>
            <a:avLst/>
            <a:gdLst/>
            <a:ahLst/>
            <a:cxnLst/>
            <a:rect l="l" t="t" r="r" b="b"/>
            <a:pathLst>
              <a:path w="4261740" h="2130870">
                <a:moveTo>
                  <a:pt x="0" y="0"/>
                </a:moveTo>
                <a:lnTo>
                  <a:pt x="4261740" y="0"/>
                </a:lnTo>
                <a:lnTo>
                  <a:pt x="4261740" y="2130870"/>
                </a:lnTo>
                <a:lnTo>
                  <a:pt x="0" y="21308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6B504C32-47AD-3586-3A32-71A303E321F4}"/>
              </a:ext>
            </a:extLst>
          </p:cNvPr>
          <p:cNvSpPr/>
          <p:nvPr/>
        </p:nvSpPr>
        <p:spPr>
          <a:xfrm>
            <a:off x="-956439" y="-507417"/>
            <a:ext cx="5200379" cy="4114800"/>
          </a:xfrm>
          <a:custGeom>
            <a:avLst/>
            <a:gdLst/>
            <a:ahLst/>
            <a:cxnLst/>
            <a:rect l="l" t="t" r="r" b="b"/>
            <a:pathLst>
              <a:path w="5200379" h="4114800">
                <a:moveTo>
                  <a:pt x="0" y="0"/>
                </a:moveTo>
                <a:lnTo>
                  <a:pt x="5200379" y="0"/>
                </a:lnTo>
                <a:lnTo>
                  <a:pt x="520037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1886DDDE-96C4-D986-E414-51861745484B}"/>
              </a:ext>
            </a:extLst>
          </p:cNvPr>
          <p:cNvSpPr/>
          <p:nvPr/>
        </p:nvSpPr>
        <p:spPr>
          <a:xfrm>
            <a:off x="11705924" y="262192"/>
            <a:ext cx="2901008" cy="1450504"/>
          </a:xfrm>
          <a:custGeom>
            <a:avLst/>
            <a:gdLst/>
            <a:ahLst/>
            <a:cxnLst/>
            <a:rect l="l" t="t" r="r" b="b"/>
            <a:pathLst>
              <a:path w="2901008" h="1450504">
                <a:moveTo>
                  <a:pt x="0" y="0"/>
                </a:moveTo>
                <a:lnTo>
                  <a:pt x="2901007" y="0"/>
                </a:lnTo>
                <a:lnTo>
                  <a:pt x="2901007" y="1450504"/>
                </a:lnTo>
                <a:lnTo>
                  <a:pt x="0" y="14505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05E81EA-5EF1-5A00-B85A-3D54673B6836}"/>
              </a:ext>
            </a:extLst>
          </p:cNvPr>
          <p:cNvSpPr txBox="1"/>
          <p:nvPr/>
        </p:nvSpPr>
        <p:spPr>
          <a:xfrm>
            <a:off x="218275" y="2313814"/>
            <a:ext cx="16419710" cy="662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6"/>
              </a:lnSpc>
            </a:pPr>
            <a:r>
              <a:rPr lang="en-US" sz="8000" b="1" dirty="0">
                <a:solidFill>
                  <a:srgbClr val="FFC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OPTIMISATION</a:t>
            </a:r>
            <a:endParaRPr lang="en-US" sz="8000" b="1" u="sng" spc="197" dirty="0">
              <a:solidFill>
                <a:srgbClr val="FFC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Open Sauce SemiBold Bold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A21A8482-FA0F-012C-4E41-E470EF02E139}"/>
              </a:ext>
            </a:extLst>
          </p:cNvPr>
          <p:cNvSpPr txBox="1"/>
          <p:nvPr/>
        </p:nvSpPr>
        <p:spPr>
          <a:xfrm>
            <a:off x="193694" y="4190167"/>
            <a:ext cx="8950306" cy="56015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Grid Search CV was used to optimize the 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Random Forest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model.</a:t>
            </a:r>
          </a:p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Hyperparameters: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The chosen parameters were: 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 estimators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200 (number of trees)</a:t>
            </a:r>
          </a:p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Max depth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10 (maximum depth of each tree)</a:t>
            </a:r>
          </a:p>
          <a:p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Min_samples_split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10 (minimum samples required to split a node)</a:t>
            </a:r>
          </a:p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Performance: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After this tuning process, the model's performance improved:</a:t>
            </a:r>
          </a:p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Root Mean Squared Error (RMSE)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decreased from 23,589 to 21,660.</a:t>
            </a:r>
          </a:p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R-squared (R2)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value increased from 0.92 to 0.93.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4086C9-B16C-FB4F-6AF3-615D4E897D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8252" y="3574198"/>
            <a:ext cx="8796053" cy="6450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643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4B5A03-C9D7-99E2-A4F7-F82AC97FF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>
            <a:extLst>
              <a:ext uri="{FF2B5EF4-FFF2-40B4-BE49-F238E27FC236}">
                <a16:creationId xmlns:a16="http://schemas.microsoft.com/office/drawing/2014/main" id="{258412BA-5F31-FCA1-C930-7E4873D049CF}"/>
              </a:ext>
            </a:extLst>
          </p:cNvPr>
          <p:cNvSpPr/>
          <p:nvPr/>
        </p:nvSpPr>
        <p:spPr>
          <a:xfrm>
            <a:off x="13200404" y="8192865"/>
            <a:ext cx="4261740" cy="2130870"/>
          </a:xfrm>
          <a:custGeom>
            <a:avLst/>
            <a:gdLst/>
            <a:ahLst/>
            <a:cxnLst/>
            <a:rect l="l" t="t" r="r" b="b"/>
            <a:pathLst>
              <a:path w="4261740" h="2130870">
                <a:moveTo>
                  <a:pt x="0" y="0"/>
                </a:moveTo>
                <a:lnTo>
                  <a:pt x="4261740" y="0"/>
                </a:lnTo>
                <a:lnTo>
                  <a:pt x="4261740" y="2130870"/>
                </a:lnTo>
                <a:lnTo>
                  <a:pt x="0" y="21308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4CD41019-7EC1-1537-49B1-758B2F08C849}"/>
              </a:ext>
            </a:extLst>
          </p:cNvPr>
          <p:cNvSpPr/>
          <p:nvPr/>
        </p:nvSpPr>
        <p:spPr>
          <a:xfrm>
            <a:off x="-1295400" y="-1379426"/>
            <a:ext cx="5200379" cy="4114800"/>
          </a:xfrm>
          <a:custGeom>
            <a:avLst/>
            <a:gdLst/>
            <a:ahLst/>
            <a:cxnLst/>
            <a:rect l="l" t="t" r="r" b="b"/>
            <a:pathLst>
              <a:path w="5200379" h="4114800">
                <a:moveTo>
                  <a:pt x="0" y="0"/>
                </a:moveTo>
                <a:lnTo>
                  <a:pt x="5200379" y="0"/>
                </a:lnTo>
                <a:lnTo>
                  <a:pt x="520037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F9CA0645-0BEB-8707-C6DF-018302E812B0}"/>
              </a:ext>
            </a:extLst>
          </p:cNvPr>
          <p:cNvSpPr/>
          <p:nvPr/>
        </p:nvSpPr>
        <p:spPr>
          <a:xfrm>
            <a:off x="10001451" y="8873231"/>
            <a:ext cx="2901008" cy="1450504"/>
          </a:xfrm>
          <a:custGeom>
            <a:avLst/>
            <a:gdLst/>
            <a:ahLst/>
            <a:cxnLst/>
            <a:rect l="l" t="t" r="r" b="b"/>
            <a:pathLst>
              <a:path w="2901008" h="1450504">
                <a:moveTo>
                  <a:pt x="0" y="0"/>
                </a:moveTo>
                <a:lnTo>
                  <a:pt x="2901007" y="0"/>
                </a:lnTo>
                <a:lnTo>
                  <a:pt x="2901007" y="1450504"/>
                </a:lnTo>
                <a:lnTo>
                  <a:pt x="0" y="14505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1EB5D86-7218-19FF-46F8-B1E3CE86D8A3}"/>
              </a:ext>
            </a:extLst>
          </p:cNvPr>
          <p:cNvSpPr txBox="1"/>
          <p:nvPr/>
        </p:nvSpPr>
        <p:spPr>
          <a:xfrm>
            <a:off x="1267918" y="1299209"/>
            <a:ext cx="16419710" cy="683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6"/>
              </a:lnSpc>
            </a:pPr>
            <a:r>
              <a:rPr lang="en-US" sz="8800" b="1" dirty="0">
                <a:solidFill>
                  <a:srgbClr val="FFC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CONCLUSION</a:t>
            </a:r>
            <a:endParaRPr lang="en-US" sz="6000" b="1" u="sng" spc="197" dirty="0">
              <a:solidFill>
                <a:srgbClr val="FFC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Open Sauce SemiBold Bold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5F1370C-D0AA-B93E-097A-DFB0644198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014" y="2735374"/>
            <a:ext cx="12838390" cy="6494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Essential Discoveries:</a:t>
            </a:r>
          </a:p>
          <a:p>
            <a:r>
              <a:rPr lang="en-US" sz="32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Area</a:t>
            </a:r>
            <a:r>
              <a:rPr lang="en-US" sz="32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and </a:t>
            </a:r>
            <a:r>
              <a:rPr lang="en-US" sz="32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Location</a:t>
            </a:r>
            <a:r>
              <a:rPr lang="en-US" sz="32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are the most influential factors.</a:t>
            </a:r>
          </a:p>
          <a:p>
            <a:r>
              <a:rPr lang="en-US" sz="32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Linear Regression</a:t>
            </a:r>
            <a:r>
              <a:rPr lang="en-US" sz="32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proved to be a simple and highly effective model.</a:t>
            </a:r>
          </a:p>
          <a:p>
            <a:r>
              <a:rPr lang="en-US" sz="32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sz="32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tuned Random Forest</a:t>
            </a:r>
            <a:r>
              <a:rPr lang="en-US" sz="32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model delivered strong and stable performance.</a:t>
            </a:r>
          </a:p>
          <a:p>
            <a:br>
              <a:rPr lang="en-US" sz="32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3200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32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Lessons Learned:</a:t>
            </a:r>
          </a:p>
          <a:p>
            <a:r>
              <a:rPr lang="en-US" sz="32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preprocessing</a:t>
            </a:r>
            <a:r>
              <a:rPr lang="en-US" sz="32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and </a:t>
            </a:r>
            <a:r>
              <a:rPr lang="en-US" sz="32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feature engineering</a:t>
            </a:r>
            <a:r>
              <a:rPr lang="en-US" sz="32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are crucial steps.</a:t>
            </a:r>
          </a:p>
          <a:p>
            <a:r>
              <a:rPr lang="en-US" sz="32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Hyperparameter tuning</a:t>
            </a:r>
            <a:r>
              <a:rPr lang="en-US" sz="32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significantly boosts a model's accuracy.</a:t>
            </a:r>
          </a:p>
          <a:p>
            <a:r>
              <a:rPr lang="en-US" sz="32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is vital to carefully handle </a:t>
            </a:r>
            <a:r>
              <a:rPr lang="en-US" sz="32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overfitting</a:t>
            </a:r>
            <a:r>
              <a:rPr lang="en-US" sz="32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and </a:t>
            </a:r>
            <a:r>
              <a:rPr lang="en-US" sz="32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underfitting</a:t>
            </a:r>
            <a:r>
              <a:rPr lang="en-US" sz="32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to ensure reliable results.</a:t>
            </a:r>
          </a:p>
        </p:txBody>
      </p:sp>
    </p:spTree>
    <p:extLst>
      <p:ext uri="{BB962C8B-B14F-4D97-AF65-F5344CB8AC3E}">
        <p14:creationId xmlns:p14="http://schemas.microsoft.com/office/powerpoint/2010/main" val="30221354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3810000" y="1181100"/>
            <a:ext cx="12801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FUTURE OF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24432"/>
            <a:ext cx="11658600" cy="5162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600" b="1"/>
            </a:pPr>
            <a:r>
              <a:rPr sz="32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Trends:</a:t>
            </a:r>
          </a:p>
          <a:p>
            <a:pPr>
              <a:lnSpc>
                <a:spcPct val="150000"/>
              </a:lnSpc>
              <a:defRPr sz="1600"/>
            </a:pPr>
            <a:r>
              <a:rPr sz="32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AI-powered healthcare</a:t>
            </a:r>
          </a:p>
          <a:p>
            <a:pPr>
              <a:lnSpc>
                <a:spcPct val="150000"/>
              </a:lnSpc>
              <a:defRPr sz="1600"/>
            </a:pPr>
            <a:r>
              <a:rPr sz="32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Autonomous vehicles</a:t>
            </a:r>
          </a:p>
          <a:p>
            <a:pPr>
              <a:lnSpc>
                <a:spcPct val="150000"/>
              </a:lnSpc>
              <a:defRPr sz="1600"/>
            </a:pPr>
            <a:r>
              <a:rPr sz="32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Natural language understanding</a:t>
            </a:r>
          </a:p>
          <a:p>
            <a:pPr>
              <a:lnSpc>
                <a:spcPct val="150000"/>
              </a:lnSpc>
              <a:defRPr sz="1600"/>
            </a:pPr>
            <a:r>
              <a:rPr sz="32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Edge AI (ML on devices)</a:t>
            </a:r>
          </a:p>
          <a:p>
            <a:pPr>
              <a:lnSpc>
                <a:spcPct val="150000"/>
              </a:lnSpc>
              <a:defRPr sz="1600"/>
            </a:pPr>
            <a:r>
              <a:rPr sz="32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Opportunities: Faster, smarter decision-making.</a:t>
            </a:r>
          </a:p>
          <a:p>
            <a:pPr>
              <a:lnSpc>
                <a:spcPct val="150000"/>
              </a:lnSpc>
              <a:defRPr sz="1600"/>
            </a:pPr>
            <a:r>
              <a:rPr sz="32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Challenges: Data privacy, ethics, bias in AI.</a:t>
            </a:r>
          </a:p>
        </p:txBody>
      </p:sp>
      <p:pic>
        <p:nvPicPr>
          <p:cNvPr id="6" name="Picture 5" descr="future_ml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7761339"/>
            <a:ext cx="14935200" cy="1932039"/>
          </a:xfrm>
          <a:prstGeom prst="rect">
            <a:avLst/>
          </a:prstGeom>
        </p:spPr>
      </p:pic>
      <p:sp>
        <p:nvSpPr>
          <p:cNvPr id="2" name="Freeform 4">
            <a:extLst>
              <a:ext uri="{FF2B5EF4-FFF2-40B4-BE49-F238E27FC236}">
                <a16:creationId xmlns:a16="http://schemas.microsoft.com/office/drawing/2014/main" id="{35791C31-1C37-1979-CE40-CF350E2F1A81}"/>
              </a:ext>
            </a:extLst>
          </p:cNvPr>
          <p:cNvSpPr/>
          <p:nvPr/>
        </p:nvSpPr>
        <p:spPr>
          <a:xfrm>
            <a:off x="13200404" y="8192865"/>
            <a:ext cx="4261740" cy="2130870"/>
          </a:xfrm>
          <a:custGeom>
            <a:avLst/>
            <a:gdLst/>
            <a:ahLst/>
            <a:cxnLst/>
            <a:rect l="l" t="t" r="r" b="b"/>
            <a:pathLst>
              <a:path w="4261740" h="2130870">
                <a:moveTo>
                  <a:pt x="0" y="0"/>
                </a:moveTo>
                <a:lnTo>
                  <a:pt x="4261740" y="0"/>
                </a:lnTo>
                <a:lnTo>
                  <a:pt x="4261740" y="2130870"/>
                </a:lnTo>
                <a:lnTo>
                  <a:pt x="0" y="21308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5">
            <a:extLst>
              <a:ext uri="{FF2B5EF4-FFF2-40B4-BE49-F238E27FC236}">
                <a16:creationId xmlns:a16="http://schemas.microsoft.com/office/drawing/2014/main" id="{15888912-D31F-CA20-F7A4-6D30EB6F9D51}"/>
              </a:ext>
            </a:extLst>
          </p:cNvPr>
          <p:cNvSpPr/>
          <p:nvPr/>
        </p:nvSpPr>
        <p:spPr>
          <a:xfrm>
            <a:off x="-1295400" y="-1379426"/>
            <a:ext cx="5200379" cy="4114800"/>
          </a:xfrm>
          <a:custGeom>
            <a:avLst/>
            <a:gdLst/>
            <a:ahLst/>
            <a:cxnLst/>
            <a:rect l="l" t="t" r="r" b="b"/>
            <a:pathLst>
              <a:path w="5200379" h="4114800">
                <a:moveTo>
                  <a:pt x="0" y="0"/>
                </a:moveTo>
                <a:lnTo>
                  <a:pt x="5200379" y="0"/>
                </a:lnTo>
                <a:lnTo>
                  <a:pt x="520037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23447CE0-CE70-FAC3-0696-2E39963861ED}"/>
              </a:ext>
            </a:extLst>
          </p:cNvPr>
          <p:cNvSpPr/>
          <p:nvPr/>
        </p:nvSpPr>
        <p:spPr>
          <a:xfrm>
            <a:off x="10001451" y="8873231"/>
            <a:ext cx="2901008" cy="1450504"/>
          </a:xfrm>
          <a:custGeom>
            <a:avLst/>
            <a:gdLst/>
            <a:ahLst/>
            <a:cxnLst/>
            <a:rect l="l" t="t" r="r" b="b"/>
            <a:pathLst>
              <a:path w="2901008" h="1450504">
                <a:moveTo>
                  <a:pt x="0" y="0"/>
                </a:moveTo>
                <a:lnTo>
                  <a:pt x="2901007" y="0"/>
                </a:lnTo>
                <a:lnTo>
                  <a:pt x="2901007" y="1450504"/>
                </a:lnTo>
                <a:lnTo>
                  <a:pt x="0" y="145050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076D7D-0C16-61F8-B8AE-240E5F541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4">
            <a:extLst>
              <a:ext uri="{FF2B5EF4-FFF2-40B4-BE49-F238E27FC236}">
                <a16:creationId xmlns:a16="http://schemas.microsoft.com/office/drawing/2014/main" id="{4E63BF6B-2BB8-B2B1-D31D-44E0CC41BD52}"/>
              </a:ext>
            </a:extLst>
          </p:cNvPr>
          <p:cNvSpPr/>
          <p:nvPr/>
        </p:nvSpPr>
        <p:spPr>
          <a:xfrm>
            <a:off x="14175252" y="0"/>
            <a:ext cx="4261740" cy="2130870"/>
          </a:xfrm>
          <a:custGeom>
            <a:avLst/>
            <a:gdLst/>
            <a:ahLst/>
            <a:cxnLst/>
            <a:rect l="l" t="t" r="r" b="b"/>
            <a:pathLst>
              <a:path w="4261740" h="2130870">
                <a:moveTo>
                  <a:pt x="0" y="0"/>
                </a:moveTo>
                <a:lnTo>
                  <a:pt x="4261740" y="0"/>
                </a:lnTo>
                <a:lnTo>
                  <a:pt x="4261740" y="2130870"/>
                </a:lnTo>
                <a:lnTo>
                  <a:pt x="0" y="21308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5">
            <a:extLst>
              <a:ext uri="{FF2B5EF4-FFF2-40B4-BE49-F238E27FC236}">
                <a16:creationId xmlns:a16="http://schemas.microsoft.com/office/drawing/2014/main" id="{0239F146-A173-392B-931F-97D8D5CF599B}"/>
              </a:ext>
            </a:extLst>
          </p:cNvPr>
          <p:cNvSpPr/>
          <p:nvPr/>
        </p:nvSpPr>
        <p:spPr>
          <a:xfrm>
            <a:off x="-1295400" y="-1379426"/>
            <a:ext cx="5200379" cy="4114800"/>
          </a:xfrm>
          <a:custGeom>
            <a:avLst/>
            <a:gdLst/>
            <a:ahLst/>
            <a:cxnLst/>
            <a:rect l="l" t="t" r="r" b="b"/>
            <a:pathLst>
              <a:path w="5200379" h="4114800">
                <a:moveTo>
                  <a:pt x="0" y="0"/>
                </a:moveTo>
                <a:lnTo>
                  <a:pt x="5200379" y="0"/>
                </a:lnTo>
                <a:lnTo>
                  <a:pt x="520037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71258CF8-A113-AEA3-C42D-BA215A09E0D5}"/>
              </a:ext>
            </a:extLst>
          </p:cNvPr>
          <p:cNvSpPr/>
          <p:nvPr/>
        </p:nvSpPr>
        <p:spPr>
          <a:xfrm>
            <a:off x="15401740" y="8835293"/>
            <a:ext cx="2901008" cy="1450504"/>
          </a:xfrm>
          <a:custGeom>
            <a:avLst/>
            <a:gdLst/>
            <a:ahLst/>
            <a:cxnLst/>
            <a:rect l="l" t="t" r="r" b="b"/>
            <a:pathLst>
              <a:path w="2901008" h="1450504">
                <a:moveTo>
                  <a:pt x="0" y="0"/>
                </a:moveTo>
                <a:lnTo>
                  <a:pt x="2901007" y="0"/>
                </a:lnTo>
                <a:lnTo>
                  <a:pt x="2901007" y="1450504"/>
                </a:lnTo>
                <a:lnTo>
                  <a:pt x="0" y="14505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A1019D4D-A32D-68D8-7098-7515FFFD29A9}"/>
              </a:ext>
            </a:extLst>
          </p:cNvPr>
          <p:cNvSpPr txBox="1"/>
          <p:nvPr/>
        </p:nvSpPr>
        <p:spPr>
          <a:xfrm>
            <a:off x="1267918" y="1299209"/>
            <a:ext cx="16419710" cy="683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6"/>
              </a:lnSpc>
            </a:pPr>
            <a:r>
              <a:rPr lang="en-US" sz="8800" b="1" dirty="0">
                <a:solidFill>
                  <a:srgbClr val="FFC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REFERENCES</a:t>
            </a:r>
            <a:endParaRPr lang="en-US" sz="6000" b="1" u="sng" spc="197" dirty="0">
              <a:solidFill>
                <a:srgbClr val="FFC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Open Sauce SemiBold Bold"/>
            </a:endParaRPr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1307958C-B27C-69BB-A8D5-40A7AF9372DA}"/>
              </a:ext>
            </a:extLst>
          </p:cNvPr>
          <p:cNvSpPr txBox="1"/>
          <p:nvPr/>
        </p:nvSpPr>
        <p:spPr>
          <a:xfrm>
            <a:off x="555117" y="2673121"/>
            <a:ext cx="13639800" cy="73250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Bishop (2006)</a:t>
            </a:r>
            <a:r>
              <a:rPr lang="en-US" sz="28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Montserrat Classic"/>
              </a:rPr>
              <a:t>  </a:t>
            </a:r>
          </a:p>
          <a:p>
            <a:pPr lvl="0"/>
            <a:r>
              <a:rPr lang="en-US" sz="28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Montserrat Classic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https://www.scirp.org/reference/referencespapers?referenceid=3523326</a:t>
            </a:r>
            <a:endParaRPr lang="en-US" sz="2800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Montserrat Classic"/>
            </a:endParaRPr>
          </a:p>
          <a:p>
            <a:pPr lvl="0"/>
            <a:endParaRPr lang="en-US" sz="2800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Montserrat Classic"/>
            </a:endParaRPr>
          </a:p>
          <a:p>
            <a:pPr lvl="0"/>
            <a:r>
              <a:rPr lang="da-DK" sz="28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Montserrat Classic"/>
              </a:rPr>
              <a:t>Goodfellow et al. (2016)</a:t>
            </a:r>
          </a:p>
          <a:p>
            <a:pPr lvl="0"/>
            <a:r>
              <a:rPr lang="da-DK" sz="28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Montserrat Classic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https://www.scirp.org/reference/referencespapers?referenceid=2791883</a:t>
            </a:r>
            <a:r>
              <a:rPr lang="da-DK" sz="28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Montserrat Classic"/>
              </a:rPr>
              <a:t> </a:t>
            </a:r>
          </a:p>
          <a:p>
            <a:pPr lvl="0"/>
            <a:endParaRPr lang="da-DK" sz="2800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Montserrat Classic"/>
            </a:endParaRPr>
          </a:p>
          <a:p>
            <a:pPr lvl="0"/>
            <a:r>
              <a:rPr lang="da-DK" sz="28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Montserrat Classic"/>
              </a:rPr>
              <a:t>Hastie et al. (2009)</a:t>
            </a:r>
          </a:p>
          <a:p>
            <a:pPr lvl="0"/>
            <a:r>
              <a:rPr lang="da-DK" sz="28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Montserrat Classic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https://scholar.google.com.pk/scholar?q=Hastie+et+al.+(2009&amp;hl=en&amp;as_sdt=0&amp;as_vis=1&amp;oi=scholart</a:t>
            </a:r>
            <a:r>
              <a:rPr lang="da-DK" sz="28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Montserrat Classic"/>
              </a:rPr>
              <a:t> </a:t>
            </a:r>
          </a:p>
          <a:p>
            <a:pPr lvl="0"/>
            <a:endParaRPr lang="da-DK" sz="2800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Montserrat Classic"/>
            </a:endParaRPr>
          </a:p>
          <a:p>
            <a:pPr lvl="0"/>
            <a:r>
              <a:rPr lang="da-DK" sz="28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Montserrat Classic"/>
              </a:rPr>
              <a:t>James et al. (2013)</a:t>
            </a:r>
          </a:p>
          <a:p>
            <a:pPr lvl="0"/>
            <a:r>
              <a:rPr lang="da-DK" sz="28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Montserrat Classic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https://scholar.google.com.pk/scholar?q=James+et+al.+(2013)&amp;hl=en&amp;as_sdt=0&amp;as_vis=1&amp;oi=scholart</a:t>
            </a:r>
            <a:r>
              <a:rPr lang="da-DK" sz="28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Montserrat Classic"/>
              </a:rPr>
              <a:t> </a:t>
            </a:r>
          </a:p>
          <a:p>
            <a:pPr lvl="0"/>
            <a:endParaRPr lang="da-DK" sz="2800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Montserrat Classic"/>
            </a:endParaRPr>
          </a:p>
          <a:p>
            <a:pPr lvl="0"/>
            <a:r>
              <a:rPr lang="da-DK" sz="28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Montserrat Classic"/>
              </a:rPr>
              <a:t>Breiman (2001</a:t>
            </a:r>
          </a:p>
          <a:p>
            <a:pPr lvl="0"/>
            <a:r>
              <a:rPr lang="en-US" sz="28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Montserrat Classic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https://scholar.google.com.pk/scholar?q=Breiman+(2001&amp;hl=en&amp;as_sdt=0&amp;as_vis=1&amp;oi=scholart</a:t>
            </a:r>
            <a:r>
              <a:rPr lang="en-US" sz="28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Montserrat Classic"/>
              </a:rPr>
              <a:t> </a:t>
            </a: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55AB82B5-094E-7FAB-94B9-B45A7D98C027}"/>
              </a:ext>
            </a:extLst>
          </p:cNvPr>
          <p:cNvSpPr/>
          <p:nvPr/>
        </p:nvSpPr>
        <p:spPr>
          <a:xfrm>
            <a:off x="14554200" y="3496464"/>
            <a:ext cx="3178683" cy="4114800"/>
          </a:xfrm>
          <a:custGeom>
            <a:avLst/>
            <a:gdLst/>
            <a:ahLst/>
            <a:cxnLst/>
            <a:rect l="l" t="t" r="r" b="b"/>
            <a:pathLst>
              <a:path w="3178683" h="4114800">
                <a:moveTo>
                  <a:pt x="0" y="0"/>
                </a:moveTo>
                <a:lnTo>
                  <a:pt x="3178683" y="0"/>
                </a:lnTo>
                <a:lnTo>
                  <a:pt x="317868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6613844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C784E8-E7FD-070A-24D9-5636FCB11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13A56E4F-B394-A71A-338E-6A8BA11A740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Freeform 4">
            <a:extLst>
              <a:ext uri="{FF2B5EF4-FFF2-40B4-BE49-F238E27FC236}">
                <a16:creationId xmlns:a16="http://schemas.microsoft.com/office/drawing/2014/main" id="{63301399-F3C7-16EC-424F-AE2524394CB4}"/>
              </a:ext>
            </a:extLst>
          </p:cNvPr>
          <p:cNvSpPr/>
          <p:nvPr/>
        </p:nvSpPr>
        <p:spPr>
          <a:xfrm>
            <a:off x="14175252" y="0"/>
            <a:ext cx="4261740" cy="2130870"/>
          </a:xfrm>
          <a:custGeom>
            <a:avLst/>
            <a:gdLst/>
            <a:ahLst/>
            <a:cxnLst/>
            <a:rect l="l" t="t" r="r" b="b"/>
            <a:pathLst>
              <a:path w="4261740" h="2130870">
                <a:moveTo>
                  <a:pt x="0" y="0"/>
                </a:moveTo>
                <a:lnTo>
                  <a:pt x="4261740" y="0"/>
                </a:lnTo>
                <a:lnTo>
                  <a:pt x="4261740" y="2130870"/>
                </a:lnTo>
                <a:lnTo>
                  <a:pt x="0" y="21308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5">
            <a:extLst>
              <a:ext uri="{FF2B5EF4-FFF2-40B4-BE49-F238E27FC236}">
                <a16:creationId xmlns:a16="http://schemas.microsoft.com/office/drawing/2014/main" id="{D333C23C-0649-5F94-FD57-EEFE6087BD03}"/>
              </a:ext>
            </a:extLst>
          </p:cNvPr>
          <p:cNvSpPr/>
          <p:nvPr/>
        </p:nvSpPr>
        <p:spPr>
          <a:xfrm>
            <a:off x="-1295400" y="-1379426"/>
            <a:ext cx="5200379" cy="4114800"/>
          </a:xfrm>
          <a:custGeom>
            <a:avLst/>
            <a:gdLst/>
            <a:ahLst/>
            <a:cxnLst/>
            <a:rect l="l" t="t" r="r" b="b"/>
            <a:pathLst>
              <a:path w="5200379" h="4114800">
                <a:moveTo>
                  <a:pt x="0" y="0"/>
                </a:moveTo>
                <a:lnTo>
                  <a:pt x="5200379" y="0"/>
                </a:lnTo>
                <a:lnTo>
                  <a:pt x="520037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F90A6530-CDAC-C80B-A473-61EC4010CEB4}"/>
              </a:ext>
            </a:extLst>
          </p:cNvPr>
          <p:cNvSpPr/>
          <p:nvPr/>
        </p:nvSpPr>
        <p:spPr>
          <a:xfrm>
            <a:off x="15401740" y="8835293"/>
            <a:ext cx="2901008" cy="1450504"/>
          </a:xfrm>
          <a:custGeom>
            <a:avLst/>
            <a:gdLst/>
            <a:ahLst/>
            <a:cxnLst/>
            <a:rect l="l" t="t" r="r" b="b"/>
            <a:pathLst>
              <a:path w="2901008" h="1450504">
                <a:moveTo>
                  <a:pt x="0" y="0"/>
                </a:moveTo>
                <a:lnTo>
                  <a:pt x="2901007" y="0"/>
                </a:lnTo>
                <a:lnTo>
                  <a:pt x="2901007" y="1450504"/>
                </a:lnTo>
                <a:lnTo>
                  <a:pt x="0" y="145050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311A7D09-37B8-39DD-83E8-EF6187D784DF}"/>
              </a:ext>
            </a:extLst>
          </p:cNvPr>
          <p:cNvSpPr txBox="1"/>
          <p:nvPr/>
        </p:nvSpPr>
        <p:spPr>
          <a:xfrm>
            <a:off x="1968893" y="6972300"/>
            <a:ext cx="14414107" cy="13840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62"/>
              </a:lnSpc>
            </a:pPr>
            <a:r>
              <a:rPr lang="en-US" sz="13800" b="1" spc="438" dirty="0">
                <a:solidFill>
                  <a:srgbClr val="002060"/>
                </a:solidFill>
                <a:latin typeface="Open Sauce SemiBold Bold"/>
                <a:ea typeface="Open Sauce SemiBold Bold"/>
                <a:cs typeface="Open Sauce SemiBold Bold"/>
                <a:sym typeface="Open Sauce SemiBold Bold"/>
              </a:rPr>
              <a:t>THANKS</a:t>
            </a: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22FBCD19-C125-18A4-0BFD-C29701A81463}"/>
              </a:ext>
            </a:extLst>
          </p:cNvPr>
          <p:cNvSpPr txBox="1"/>
          <p:nvPr/>
        </p:nvSpPr>
        <p:spPr>
          <a:xfrm>
            <a:off x="1968893" y="8636203"/>
            <a:ext cx="14414107" cy="13840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62"/>
              </a:lnSpc>
            </a:pPr>
            <a:r>
              <a:rPr lang="en-US" sz="13800" b="1" dirty="0">
                <a:solidFill>
                  <a:srgbClr val="002060"/>
                </a:solidFill>
                <a:latin typeface="Open Sauce SemiBold Bold"/>
                <a:ea typeface="Open Sauce SemiBold Bold"/>
                <a:cs typeface="Open Sauce SemiBold Bold"/>
                <a:sym typeface="Open Sauce SemiBold Bold"/>
              </a:rPr>
              <a:t>FOR WATCHING</a:t>
            </a:r>
          </a:p>
        </p:txBody>
      </p:sp>
    </p:spTree>
    <p:extLst>
      <p:ext uri="{BB962C8B-B14F-4D97-AF65-F5344CB8AC3E}">
        <p14:creationId xmlns:p14="http://schemas.microsoft.com/office/powerpoint/2010/main" val="2152712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510</TotalTime>
  <Words>1074</Words>
  <Application>Microsoft Office PowerPoint</Application>
  <PresentationFormat>Custom</PresentationFormat>
  <Paragraphs>118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Open Sauce SemiBold Bold</vt:lpstr>
      <vt:lpstr>Tahoma</vt:lpstr>
      <vt:lpstr>Calibri</vt:lpstr>
      <vt:lpstr>Montserrat 1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Pink &amp; Green Aesthetic Minimalist Research Project Presentation</dc:title>
  <dc:creator>ALI</dc:creator>
  <cp:lastModifiedBy>ALI</cp:lastModifiedBy>
  <cp:revision>33</cp:revision>
  <dcterms:created xsi:type="dcterms:W3CDTF">2006-08-16T00:00:00Z</dcterms:created>
  <dcterms:modified xsi:type="dcterms:W3CDTF">2025-09-20T20:32:45Z</dcterms:modified>
  <dc:identifier>DAGn4VuiCCE</dc:identifier>
</cp:coreProperties>
</file>